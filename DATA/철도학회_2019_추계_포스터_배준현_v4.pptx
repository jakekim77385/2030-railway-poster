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3"/>
  </p:notesMasterIdLst>
  <p:sldIdLst>
    <p:sldId id="261" r:id="rId2"/>
  </p:sldIdLst>
  <p:sldSz cx="21458238" cy="30314900"/>
  <p:notesSz cx="6735763" cy="9866313"/>
  <p:defaultTextStyle>
    <a:defPPr>
      <a:defRPr lang="ko-KR"/>
    </a:defPPr>
    <a:lvl1pPr algn="l" defTabSz="1079500" rtl="0" fontAlgn="base" latinLnBrk="1">
      <a:spcBef>
        <a:spcPct val="0"/>
      </a:spcBef>
      <a:spcAft>
        <a:spcPct val="0"/>
      </a:spcAft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39750" indent="-82550" algn="l" defTabSz="1079500" rtl="0" fontAlgn="base" latinLnBrk="1">
      <a:spcBef>
        <a:spcPct val="0"/>
      </a:spcBef>
      <a:spcAft>
        <a:spcPct val="0"/>
      </a:spcAft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79500" indent="-165100" algn="l" defTabSz="1079500" rtl="0" fontAlgn="base" latinLnBrk="1">
      <a:spcBef>
        <a:spcPct val="0"/>
      </a:spcBef>
      <a:spcAft>
        <a:spcPct val="0"/>
      </a:spcAft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620838" indent="-249238" algn="l" defTabSz="1079500" rtl="0" fontAlgn="base" latinLnBrk="1">
      <a:spcBef>
        <a:spcPct val="0"/>
      </a:spcBef>
      <a:spcAft>
        <a:spcPct val="0"/>
      </a:spcAft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160588" indent="-331788" algn="l" defTabSz="1079500" rtl="0" fontAlgn="base" latinLnBrk="1">
      <a:spcBef>
        <a:spcPct val="0"/>
      </a:spcBef>
      <a:spcAft>
        <a:spcPct val="0"/>
      </a:spcAft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42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48">
          <p15:clr>
            <a:srgbClr val="A4A3A4"/>
          </p15:clr>
        </p15:guide>
        <p15:guide id="2" pos="6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99"/>
    <a:srgbClr val="FF0000"/>
    <a:srgbClr val="FFFFCC"/>
    <a:srgbClr val="33CCFF"/>
    <a:srgbClr val="777777"/>
    <a:srgbClr val="FFFF99"/>
    <a:srgbClr val="CCFFCC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524" autoAdjust="0"/>
    <p:restoredTop sz="94660"/>
  </p:normalViewPr>
  <p:slideViewPr>
    <p:cSldViewPr>
      <p:cViewPr>
        <p:scale>
          <a:sx n="33" d="100"/>
          <a:sy n="33" d="100"/>
        </p:scale>
        <p:origin x="3282" y="24"/>
      </p:cViewPr>
      <p:guideLst>
        <p:guide orient="horz" pos="9548"/>
        <p:guide pos="67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81027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081027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FA5A859-1F98-48B4-9FCF-70B212781AFC}" type="datetimeFigureOut">
              <a:rPr lang="ko-KR" altLang="en-US"/>
              <a:pPr>
                <a:defRPr/>
              </a:pPr>
              <a:t>2019-11-12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58988" y="739775"/>
            <a:ext cx="261778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81027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081027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5DC577F-E960-4D23-AA7A-F4AE98BA97E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9278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079500" rtl="0" eaLnBrk="0" fontAlgn="base" latinLnBrk="1" hangingPunct="0">
      <a:spcBef>
        <a:spcPct val="3000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539750" algn="l" defTabSz="1079500" rtl="0" eaLnBrk="0" fontAlgn="base" latinLnBrk="1" hangingPunct="0">
      <a:spcBef>
        <a:spcPct val="3000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079500" algn="l" defTabSz="1079500" rtl="0" eaLnBrk="0" fontAlgn="base" latinLnBrk="1" hangingPunct="0">
      <a:spcBef>
        <a:spcPct val="3000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20838" algn="l" defTabSz="1079500" rtl="0" eaLnBrk="0" fontAlgn="base" latinLnBrk="1" hangingPunct="0">
      <a:spcBef>
        <a:spcPct val="3000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160588" algn="l" defTabSz="1079500" rtl="0" eaLnBrk="0" fontAlgn="base" latinLnBrk="1" hangingPunct="0">
      <a:spcBef>
        <a:spcPct val="3000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702565" algn="l" defTabSz="1081027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243078" algn="l" defTabSz="1081027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783592" algn="l" defTabSz="1081027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324105" algn="l" defTabSz="1081027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21458238" cy="303149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295845" tIns="147922" rIns="295845" bIns="147922" anchor="ctr"/>
            <a:lstStyle/>
            <a:p>
              <a:pPr algn="ctr" defTabSz="2957513" latinLnBrk="0">
                <a:defRPr/>
              </a:pPr>
              <a:endParaRPr kumimoji="0" lang="ko-KR" altLang="en-US" sz="7900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7900">
                <a:latin typeface="Times New Roman" pitchFamily="18" charset="0"/>
                <a:ea typeface="굴림" pitchFamily="50" charset="-127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295845" tIns="147922" rIns="295845" bIns="147922"/>
              <a:lstStyle/>
              <a:p>
                <a:pPr defTabSz="2957513" latinLnBrk="0">
                  <a:defRPr/>
                </a:pPr>
                <a:endParaRPr kumimoji="0" lang="ko-KR" altLang="en-US" sz="7900">
                  <a:latin typeface="Times New Roman" pitchFamily="18" charset="0"/>
                  <a:ea typeface="굴림" pitchFamily="50" charset="-127"/>
                </a:endParaRPr>
              </a:p>
            </p:txBody>
          </p:sp>
        </p:grpSp>
      </p:grpSp>
      <p:sp>
        <p:nvSpPr>
          <p:cNvPr id="532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6975475" y="8081963"/>
            <a:ext cx="14123988" cy="9771062"/>
          </a:xfrm>
        </p:spPr>
        <p:txBody>
          <a:bodyPr/>
          <a:lstStyle>
            <a:lvl1pPr>
              <a:defRPr sz="1620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32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6975475" y="18864263"/>
            <a:ext cx="14123988" cy="7743825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11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071563" y="27619325"/>
            <a:ext cx="5010150" cy="2022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295845" tIns="147922" rIns="295845" bIns="147922" numCol="1" anchor="b" anchorCtr="0" compatLnSpc="1">
            <a:prstTxWarp prst="textNoShape">
              <a:avLst/>
            </a:prstTxWarp>
          </a:bodyPr>
          <a:lstStyle>
            <a:lvl1pPr>
              <a:defRPr kumimoji="0" sz="39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5EAD492-B115-44BE-B80A-FB0B2F3767A4}" type="datetimeFigureOut">
              <a:rPr lang="ko-KR" altLang="en-US"/>
              <a:pPr>
                <a:defRPr/>
              </a:pPr>
              <a:t>2019-11-12</a:t>
            </a:fld>
            <a:endParaRPr lang="en-US" altLang="ko-KR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7329488" y="27619325"/>
            <a:ext cx="6799262" cy="2022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295845" tIns="147922" rIns="295845" bIns="147922" numCol="1" anchor="b" anchorCtr="0" compatLnSpc="1">
            <a:prstTxWarp prst="textNoShape">
              <a:avLst/>
            </a:prstTxWarp>
          </a:bodyPr>
          <a:lstStyle>
            <a:lvl1pPr algn="ctr">
              <a:defRPr kumimoji="0" sz="39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5376525" y="27619325"/>
            <a:ext cx="5010150" cy="2022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295845" tIns="147922" rIns="295845" bIns="147922" numCol="1" anchor="b" anchorCtr="0" compatLnSpc="1">
            <a:prstTxWarp prst="textNoShape">
              <a:avLst/>
            </a:prstTxWarp>
          </a:bodyPr>
          <a:lstStyle>
            <a:lvl1pPr algn="r">
              <a:defRPr kumimoji="0" sz="39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3F58B35-8ED4-4190-A804-411ECF81AA3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95450" y="19480213"/>
            <a:ext cx="18238788" cy="602138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95450" y="12849225"/>
            <a:ext cx="18238788" cy="66309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1563" y="8759825"/>
            <a:ext cx="9580562" cy="17175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804525" y="8759825"/>
            <a:ext cx="9582150" cy="17175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3150" y="1214438"/>
            <a:ext cx="19311938" cy="50514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73150" y="6784975"/>
            <a:ext cx="9480550" cy="2828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73150" y="9613900"/>
            <a:ext cx="9480550" cy="17465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0899775" y="6784975"/>
            <a:ext cx="9485313" cy="2828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0899775" y="9613900"/>
            <a:ext cx="9485313" cy="17465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3150" y="1206500"/>
            <a:ext cx="7059613" cy="5137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9938" y="1206500"/>
            <a:ext cx="11995150" cy="25873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73150" y="6343650"/>
            <a:ext cx="7059613" cy="2073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05288" y="21220113"/>
            <a:ext cx="12876212" cy="2505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05288" y="2708275"/>
            <a:ext cx="12876212" cy="18189575"/>
          </a:xfrm>
        </p:spPr>
        <p:txBody>
          <a:bodyPr vert="horz" wrap="square" lIns="295845" tIns="147922" rIns="295845" bIns="147922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205288" y="23725188"/>
            <a:ext cx="12876212" cy="3557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5559088" y="2022475"/>
            <a:ext cx="4827587" cy="2391251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1563" y="2022475"/>
            <a:ext cx="14335125" cy="2391251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/>
          <p:cNvGrpSpPr>
            <a:grpSpLocks/>
          </p:cNvGrpSpPr>
          <p:nvPr/>
        </p:nvGrpSpPr>
        <p:grpSpPr bwMode="auto">
          <a:xfrm>
            <a:off x="0" y="0"/>
            <a:ext cx="21458238" cy="2413000"/>
            <a:chOff x="0" y="0"/>
            <a:chExt cx="5760" cy="344"/>
          </a:xfrm>
        </p:grpSpPr>
        <p:sp>
          <p:nvSpPr>
            <p:cNvPr id="5222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295845" tIns="147922" rIns="295845" bIns="147922" anchor="ctr"/>
            <a:lstStyle/>
            <a:p>
              <a:pPr algn="ctr" defTabSz="2957513" latinLnBrk="0">
                <a:defRPr/>
              </a:pPr>
              <a:endParaRPr kumimoji="0" lang="ko-KR" altLang="en-US" sz="7900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5223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7900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5223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5800">
                <a:solidFill>
                  <a:schemeClr val="hlink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5223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5800">
                <a:solidFill>
                  <a:schemeClr val="hlink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5223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5800">
                <a:solidFill>
                  <a:schemeClr val="accent2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5223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5800">
                <a:solidFill>
                  <a:schemeClr val="hlink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5223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7900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5223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5800">
                <a:solidFill>
                  <a:schemeClr val="accent2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5223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295845" tIns="147922" rIns="295845" bIns="147922"/>
            <a:lstStyle/>
            <a:p>
              <a:pPr defTabSz="2957513" latinLnBrk="0">
                <a:defRPr/>
              </a:pPr>
              <a:endParaRPr kumimoji="0" lang="ko-KR" altLang="en-US" sz="5800">
                <a:solidFill>
                  <a:schemeClr val="accent2"/>
                </a:solidFill>
                <a:latin typeface="Arial" charset="0"/>
                <a:ea typeface="굴림" pitchFamily="50" charset="-127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6" r:id="rId2"/>
    <p:sldLayoutId id="2147483845" r:id="rId3"/>
    <p:sldLayoutId id="2147483844" r:id="rId4"/>
    <p:sldLayoutId id="2147483843" r:id="rId5"/>
    <p:sldLayoutId id="2147483842" r:id="rId6"/>
    <p:sldLayoutId id="2147483841" r:id="rId7"/>
    <p:sldLayoutId id="2147483840" r:id="rId8"/>
    <p:sldLayoutId id="2147483839" r:id="rId9"/>
    <p:sldLayoutId id="2147483838" r:id="rId10"/>
    <p:sldLayoutId id="2147483837" r:id="rId11"/>
  </p:sldLayoutIdLst>
  <p:txStyles>
    <p:titleStyle>
      <a:lvl1pPr algn="l" defTabSz="2957513" rtl="0" eaLnBrk="0" fontAlgn="base" latinLnBrk="1" hangingPunct="0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+mj-lt"/>
          <a:ea typeface="+mj-ea"/>
          <a:cs typeface="+mj-cs"/>
        </a:defRPr>
      </a:lvl1pPr>
      <a:lvl2pPr algn="l" defTabSz="2957513" rtl="0" eaLnBrk="0" fontAlgn="base" latinLnBrk="1" hangingPunct="0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algn="l" defTabSz="2957513" rtl="0" eaLnBrk="0" fontAlgn="base" latinLnBrk="1" hangingPunct="0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algn="l" defTabSz="2957513" rtl="0" eaLnBrk="0" fontAlgn="base" latinLnBrk="1" hangingPunct="0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algn="l" defTabSz="2957513" rtl="0" eaLnBrk="0" fontAlgn="base" latinLnBrk="1" hangingPunct="0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457200" algn="l" defTabSz="2957513" rtl="0" fontAlgn="base" latinLnBrk="1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914400" algn="l" defTabSz="2957513" rtl="0" fontAlgn="base" latinLnBrk="1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371600" algn="l" defTabSz="2957513" rtl="0" fontAlgn="base" latinLnBrk="1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1828800" algn="l" defTabSz="2957513" rtl="0" fontAlgn="base" latinLnBrk="1">
        <a:spcBef>
          <a:spcPct val="0"/>
        </a:spcBef>
        <a:spcAft>
          <a:spcPct val="0"/>
        </a:spcAft>
        <a:defRPr kumimoji="1" sz="14300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1108075" indent="-1108075" algn="l" defTabSz="2957513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10400">
          <a:solidFill>
            <a:schemeClr val="tx1"/>
          </a:solidFill>
          <a:latin typeface="+mn-lt"/>
          <a:ea typeface="+mn-ea"/>
          <a:cs typeface="+mn-cs"/>
        </a:defRPr>
      </a:lvl1pPr>
      <a:lvl2pPr marL="2403475" indent="-925513" algn="l" defTabSz="2957513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9000">
          <a:solidFill>
            <a:schemeClr val="tx1"/>
          </a:solidFill>
          <a:latin typeface="+mn-lt"/>
          <a:ea typeface="+mn-ea"/>
        </a:defRPr>
      </a:lvl2pPr>
      <a:lvl3pPr marL="3697288" indent="-739775" algn="l" defTabSz="2957513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7900">
          <a:solidFill>
            <a:schemeClr val="tx1"/>
          </a:solidFill>
          <a:latin typeface="+mn-lt"/>
          <a:ea typeface="+mn-ea"/>
        </a:defRPr>
      </a:lvl3pPr>
      <a:lvl4pPr marL="5176838" indent="-738188" algn="l" defTabSz="2957513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6500">
          <a:solidFill>
            <a:schemeClr val="tx1"/>
          </a:solidFill>
          <a:latin typeface="+mn-lt"/>
          <a:ea typeface="+mn-ea"/>
        </a:defRPr>
      </a:lvl4pPr>
      <a:lvl5pPr marL="6654800" indent="-736600" algn="l" defTabSz="2957513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6500">
          <a:solidFill>
            <a:schemeClr val="tx1"/>
          </a:solidFill>
          <a:latin typeface="+mn-lt"/>
          <a:ea typeface="+mn-ea"/>
        </a:defRPr>
      </a:lvl5pPr>
      <a:lvl6pPr marL="7112000" indent="-736600" algn="l" defTabSz="2957513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6500">
          <a:solidFill>
            <a:schemeClr val="tx1"/>
          </a:solidFill>
          <a:latin typeface="+mn-lt"/>
          <a:ea typeface="+mn-ea"/>
        </a:defRPr>
      </a:lvl6pPr>
      <a:lvl7pPr marL="7569200" indent="-736600" algn="l" defTabSz="2957513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6500">
          <a:solidFill>
            <a:schemeClr val="tx1"/>
          </a:solidFill>
          <a:latin typeface="+mn-lt"/>
          <a:ea typeface="+mn-ea"/>
        </a:defRPr>
      </a:lvl7pPr>
      <a:lvl8pPr marL="8026400" indent="-736600" algn="l" defTabSz="2957513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6500">
          <a:solidFill>
            <a:schemeClr val="tx1"/>
          </a:solidFill>
          <a:latin typeface="+mn-lt"/>
          <a:ea typeface="+mn-ea"/>
        </a:defRPr>
      </a:lvl8pPr>
      <a:lvl9pPr marL="8483600" indent="-736600" algn="l" defTabSz="2957513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6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52388F8B-EFAE-4E29-BD7B-39652BF9EF94}"/>
              </a:ext>
            </a:extLst>
          </p:cNvPr>
          <p:cNvGrpSpPr/>
          <p:nvPr/>
        </p:nvGrpSpPr>
        <p:grpSpPr>
          <a:xfrm>
            <a:off x="10822157" y="7774753"/>
            <a:ext cx="10541145" cy="9246829"/>
            <a:chOff x="10822157" y="7774753"/>
            <a:chExt cx="10541145" cy="9246829"/>
          </a:xfrm>
        </p:grpSpPr>
        <p:pic>
          <p:nvPicPr>
            <p:cNvPr id="200" name="그림 18" descr="89.png">
              <a:extLst>
                <a:ext uri="{FF2B5EF4-FFF2-40B4-BE49-F238E27FC236}">
                  <a16:creationId xmlns:a16="http://schemas.microsoft.com/office/drawing/2014/main" id="{85A0C036-782B-425D-9942-0F98B479B3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0221" b="24889"/>
            <a:stretch/>
          </p:blipFill>
          <p:spPr bwMode="auto">
            <a:xfrm>
              <a:off x="10822158" y="9786347"/>
              <a:ext cx="10540660" cy="44460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1" name="그림 18" descr="89.png">
              <a:extLst>
                <a:ext uri="{FF2B5EF4-FFF2-40B4-BE49-F238E27FC236}">
                  <a16:creationId xmlns:a16="http://schemas.microsoft.com/office/drawing/2014/main" id="{D6DF795B-137F-4CF3-8C23-4F60A170C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221"/>
            <a:stretch>
              <a:fillRect/>
            </a:stretch>
          </p:blipFill>
          <p:spPr bwMode="auto">
            <a:xfrm>
              <a:off x="10822158" y="14124789"/>
              <a:ext cx="10540660" cy="2896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2" name="그림 18" descr="89.png">
              <a:extLst>
                <a:ext uri="{FF2B5EF4-FFF2-40B4-BE49-F238E27FC236}">
                  <a16:creationId xmlns:a16="http://schemas.microsoft.com/office/drawing/2014/main" id="{451CD4DA-DEC5-444D-8B8C-7F98D5AF2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5000"/>
            <a:stretch>
              <a:fillRect/>
            </a:stretch>
          </p:blipFill>
          <p:spPr bwMode="auto">
            <a:xfrm>
              <a:off x="10822157" y="7774753"/>
              <a:ext cx="10541145" cy="32015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3" name="Rectangle 6">
              <a:extLst>
                <a:ext uri="{FF2B5EF4-FFF2-40B4-BE49-F238E27FC236}">
                  <a16:creationId xmlns:a16="http://schemas.microsoft.com/office/drawing/2014/main" id="{B52E3747-B17D-40EE-BD28-B5C1BFE2F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4597" y="7883432"/>
              <a:ext cx="435574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buClr>
                  <a:srgbClr val="C00000"/>
                </a:buClr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 </a:t>
              </a:r>
              <a:r>
                <a:rPr lang="ko-KR" altLang="en-US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해석 모델링</a:t>
              </a:r>
              <a:endParaRPr lang="en-US" altLang="ko-KR" sz="2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Tahoma" pitchFamily="34" charset="0"/>
              </a:endParaRPr>
            </a:p>
          </p:txBody>
        </p:sp>
      </p:grpSp>
      <p:pic>
        <p:nvPicPr>
          <p:cNvPr id="224" name="그림 223">
            <a:extLst>
              <a:ext uri="{FF2B5EF4-FFF2-40B4-BE49-F238E27FC236}">
                <a16:creationId xmlns:a16="http://schemas.microsoft.com/office/drawing/2014/main" id="{88679BAF-74B0-4FE8-88D5-62BCA1584F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88" t="45532" r="3554"/>
          <a:stretch/>
        </p:blipFill>
        <p:spPr>
          <a:xfrm>
            <a:off x="11468955" y="10149430"/>
            <a:ext cx="9222377" cy="2687405"/>
          </a:xfrm>
          <a:prstGeom prst="rect">
            <a:avLst/>
          </a:prstGeom>
        </p:spPr>
      </p:pic>
      <p:grpSp>
        <p:nvGrpSpPr>
          <p:cNvPr id="3074" name="Group 7"/>
          <p:cNvGrpSpPr>
            <a:grpSpLocks/>
          </p:cNvGrpSpPr>
          <p:nvPr/>
        </p:nvGrpSpPr>
        <p:grpSpPr bwMode="auto">
          <a:xfrm>
            <a:off x="0" y="0"/>
            <a:ext cx="21458238" cy="2411413"/>
            <a:chOff x="0" y="0"/>
            <a:chExt cx="5760" cy="575"/>
          </a:xfrm>
        </p:grpSpPr>
        <p:sp>
          <p:nvSpPr>
            <p:cNvPr id="3339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760" cy="527"/>
            </a:xfrm>
            <a:prstGeom prst="rect">
              <a:avLst/>
            </a:prstGeom>
            <a:solidFill>
              <a:srgbClr val="DDDDDD">
                <a:alpha val="85097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lIns="211318" tIns="105659" rIns="211318" bIns="105659" anchor="ctr"/>
            <a:lstStyle/>
            <a:p>
              <a:pPr algn="ctr" defTabSz="2112963"/>
              <a:endParaRPr lang="ko-KR" altLang="ko-KR" b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3340" name="Rectangle 9"/>
            <p:cNvSpPr>
              <a:spLocks noChangeArrowheads="1"/>
            </p:cNvSpPr>
            <p:nvPr/>
          </p:nvSpPr>
          <p:spPr bwMode="auto">
            <a:xfrm>
              <a:off x="0" y="527"/>
              <a:ext cx="5760" cy="48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</p:spPr>
          <p:txBody>
            <a:bodyPr wrap="none" lIns="211318" tIns="105659" rIns="211318" bIns="105659" anchor="ctr"/>
            <a:lstStyle/>
            <a:p>
              <a:pPr algn="ctr" defTabSz="2112963"/>
              <a:endParaRPr lang="ko-KR" altLang="ko-KR" b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3076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0" y="167549"/>
            <a:ext cx="21458238" cy="14414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249708" tIns="124847" rIns="249708" bIns="124847" anchor="ctr"/>
          <a:lstStyle/>
          <a:p>
            <a:pPr algn="ctr" eaLnBrk="1" hangingPunct="1">
              <a:defRPr/>
            </a:pPr>
            <a:r>
              <a:rPr lang="ko-KR" altLang="en-US" sz="6100" b="1" spc="-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플라스틱 침목이 부설된 자갈궤도의 열차하중 재하 시 거동평가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21458238" cy="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3184" name="TextBox 64"/>
          <p:cNvSpPr txBox="1">
            <a:spLocks noChangeArrowheads="1"/>
          </p:cNvSpPr>
          <p:nvPr/>
        </p:nvSpPr>
        <p:spPr bwMode="auto">
          <a:xfrm>
            <a:off x="647699" y="1512792"/>
            <a:ext cx="2015417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3600" b="1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배준현</a:t>
            </a:r>
            <a:r>
              <a:rPr lang="en-US" altLang="ko-KR" sz="3600" b="1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3600" b="1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배영훈 </a:t>
            </a:r>
            <a:r>
              <a:rPr lang="en-US" altLang="ko-KR" sz="3600" b="1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3600" b="1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한국철도기술연구원</a:t>
            </a:r>
            <a:r>
              <a:rPr lang="en-US" altLang="ko-KR" sz="3600" b="1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) </a:t>
            </a:r>
            <a:endParaRPr lang="ko-KR" altLang="en-US" sz="3600" b="1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3078" name="그룹 111"/>
          <p:cNvGrpSpPr>
            <a:grpSpLocks/>
          </p:cNvGrpSpPr>
          <p:nvPr/>
        </p:nvGrpSpPr>
        <p:grpSpPr bwMode="auto">
          <a:xfrm>
            <a:off x="14288" y="2366963"/>
            <a:ext cx="7553325" cy="1152525"/>
            <a:chOff x="432273" y="4680845"/>
            <a:chExt cx="7553780" cy="1152128"/>
          </a:xfrm>
        </p:grpSpPr>
        <p:pic>
          <p:nvPicPr>
            <p:cNvPr id="3337" name="Picture 78" descr="그림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32273" y="4680845"/>
              <a:ext cx="7553780" cy="1152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38" name="TextBox 110"/>
            <p:cNvSpPr txBox="1">
              <a:spLocks noChangeArrowheads="1"/>
            </p:cNvSpPr>
            <p:nvPr/>
          </p:nvSpPr>
          <p:spPr bwMode="auto">
            <a:xfrm>
              <a:off x="698989" y="4825258"/>
              <a:ext cx="4767550" cy="7014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4525963"/>
              <a:r>
                <a:rPr kumimoji="0" lang="en-US" altLang="ko-KR" sz="4000" b="1" dirty="0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Ⅰ. Introduction</a:t>
              </a:r>
              <a:endParaRPr kumimoji="0" lang="ko-KR" altLang="en-US" sz="4000" b="1" dirty="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94531" y="3371594"/>
            <a:ext cx="10765359" cy="7620997"/>
          </a:xfrm>
          <a:prstGeom prst="rect">
            <a:avLst/>
          </a:prstGeom>
          <a:noFill/>
        </p:spPr>
        <p:txBody>
          <a:bodyPr wrap="square" rIns="46800">
            <a:spAutoFit/>
          </a:bodyPr>
          <a:lstStyle/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</a:rPr>
              <a:t>□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플라스틱 침목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</a:rPr>
              <a:t>(Plastic railway sleeper)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개발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배경</a:t>
            </a:r>
            <a:endParaRPr kumimoji="0" lang="en-US" altLang="ko-KR" sz="2600" dirty="0">
              <a:latin typeface="HY헤드라인M" pitchFamily="18" charset="-127"/>
              <a:ea typeface="HY헤드라인M" pitchFamily="18" charset="-127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 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• </a:t>
            </a:r>
            <a:r>
              <a:rPr kumimoji="0" lang="ko-KR" altLang="en-US" sz="2600" dirty="0" err="1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목침목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 열화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및 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손상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에 따른 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궤도 유지보수 시행 빈도 증가</a:t>
            </a:r>
            <a:endParaRPr kumimoji="0" lang="en-US" altLang="ko-KR" sz="2600" dirty="0">
              <a:solidFill>
                <a:srgbClr val="0000FF"/>
              </a:solidFill>
              <a:latin typeface="HY헤드라인M" pitchFamily="18" charset="-127"/>
              <a:ea typeface="HY헤드라인M" pitchFamily="18" charset="-127"/>
              <a:cs typeface="Arial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   </a:t>
            </a:r>
            <a:r>
              <a:rPr kumimoji="0" lang="ko-KR" altLang="en-US" sz="2600" dirty="0">
                <a:latin typeface="나눔고딕 ExtraBold"/>
                <a:ea typeface="나눔고딕 ExtraBold"/>
                <a:cs typeface="Arial"/>
              </a:rPr>
              <a:t>⇨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선로 유지보수 비용 상승</a:t>
            </a:r>
            <a:endParaRPr kumimoji="0" lang="en-US" altLang="ko-KR" sz="260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 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• </a:t>
            </a:r>
            <a:r>
              <a:rPr kumimoji="0" lang="ko-KR" altLang="en-US" sz="2600" dirty="0" err="1">
                <a:latin typeface="HY헤드라인M" pitchFamily="18" charset="-127"/>
                <a:ea typeface="HY헤드라인M" pitchFamily="18" charset="-127"/>
                <a:cs typeface="Arial"/>
              </a:rPr>
              <a:t>목침목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제작 시 사용되는 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방부제</a:t>
            </a:r>
            <a:r>
              <a:rPr kumimoji="0" lang="en-US" altLang="ko-KR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(</a:t>
            </a:r>
            <a:r>
              <a:rPr kumimoji="0" lang="ko-KR" altLang="en-US" sz="2600" dirty="0" err="1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크레오소트유</a:t>
            </a:r>
            <a:r>
              <a:rPr kumimoji="0" lang="en-US" altLang="ko-KR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)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의 용출에 따른 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토양</a:t>
            </a:r>
            <a:endParaRPr kumimoji="0" lang="en-US" altLang="ko-KR" sz="2600" dirty="0">
              <a:solidFill>
                <a:srgbClr val="0000FF"/>
              </a:solidFill>
              <a:latin typeface="HY헤드라인M" pitchFamily="18" charset="-127"/>
              <a:ea typeface="HY헤드라인M" pitchFamily="18" charset="-127"/>
              <a:cs typeface="Arial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    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오염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및 </a:t>
            </a:r>
            <a:r>
              <a:rPr kumimoji="0" lang="ko-KR" altLang="en-US" sz="2600" dirty="0" err="1">
                <a:latin typeface="HY헤드라인M" pitchFamily="18" charset="-127"/>
                <a:ea typeface="HY헤드라인M" pitchFamily="18" charset="-127"/>
                <a:cs typeface="Arial"/>
              </a:rPr>
              <a:t>벤조피렌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등의 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발암물질 존재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할 수 있음 </a:t>
            </a:r>
            <a:r>
              <a:rPr kumimoji="0" lang="ko-KR" altLang="en-US" sz="2600" dirty="0">
                <a:latin typeface="나눔고딕 ExtraBold"/>
                <a:ea typeface="나눔고딕 ExtraBold"/>
                <a:cs typeface="Arial"/>
              </a:rPr>
              <a:t>⇨ 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환경 유해성</a:t>
            </a:r>
            <a:endParaRPr kumimoji="0" lang="en-US" altLang="ko-KR" sz="260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  <a:cs typeface="Arial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 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•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인도네시아 및 파푸아뉴기니 등 자국 환경보호 위한 목재 수출 제한</a:t>
            </a:r>
            <a:endParaRPr kumimoji="0" lang="en-US" altLang="ko-KR" sz="260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  <a:cs typeface="Arial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   </a:t>
            </a:r>
            <a:r>
              <a:rPr kumimoji="0" lang="ko-KR" altLang="en-US" sz="2600" dirty="0">
                <a:latin typeface="나눔고딕 ExtraBold"/>
                <a:ea typeface="나눔고딕 ExtraBold"/>
                <a:cs typeface="Arial"/>
              </a:rPr>
              <a:t>⇨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양질의 목재 수급이 어려워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r>
              <a:rPr kumimoji="0" lang="ko-KR" altLang="en-US" sz="2600" dirty="0" err="1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목침목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 품질 저하 가능성 상승</a:t>
            </a:r>
            <a:endParaRPr kumimoji="0" lang="en-US" altLang="ko-KR" sz="260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  <a:cs typeface="Arial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 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•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따라서 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목침목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을 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대체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할 수 있는 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플라스틱 침목 개발 필요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endParaRPr kumimoji="0" lang="en-US" altLang="ko-KR" sz="2600" dirty="0">
              <a:solidFill>
                <a:srgbClr val="0000FF"/>
              </a:solidFill>
              <a:latin typeface="HY헤드라인M" pitchFamily="18" charset="-127"/>
              <a:ea typeface="HY헤드라인M" pitchFamily="18" charset="-127"/>
            </a:endParaRPr>
          </a:p>
          <a:p>
            <a:pPr defTabSz="4525963">
              <a:lnSpc>
                <a:spcPct val="130000"/>
              </a:lnSpc>
              <a:defRPr/>
            </a:pPr>
            <a:endParaRPr kumimoji="0" lang="en-US" altLang="ko-KR" sz="1600" dirty="0">
              <a:solidFill>
                <a:srgbClr val="0000FF"/>
              </a:solidFill>
              <a:latin typeface="HY헤드라인M" pitchFamily="18" charset="-127"/>
              <a:ea typeface="HY헤드라인M" pitchFamily="18" charset="-127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</a:rPr>
              <a:t>□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연구 내용</a:t>
            </a:r>
            <a:endParaRPr kumimoji="0" lang="en-US" altLang="ko-KR" sz="2600" dirty="0">
              <a:latin typeface="HY헤드라인M" pitchFamily="18" charset="-127"/>
              <a:ea typeface="HY헤드라인M" pitchFamily="18" charset="-127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</a:rPr>
              <a:t> 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• 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국가별 </a:t>
            </a:r>
            <a:r>
              <a:rPr kumimoji="0" lang="ko-KR" altLang="en-US" sz="2600" dirty="0" err="1">
                <a:latin typeface="HY헤드라인M" pitchFamily="18" charset="-127"/>
                <a:ea typeface="HY헤드라인M" pitchFamily="18" charset="-127"/>
                <a:cs typeface="Arial"/>
              </a:rPr>
              <a:t>목침목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개발 동향 파악 </a:t>
            </a:r>
            <a:endParaRPr kumimoji="0" lang="en-US" altLang="ko-KR" sz="2600" dirty="0">
              <a:latin typeface="HY헤드라인M" pitchFamily="18" charset="-127"/>
              <a:ea typeface="HY헤드라인M" pitchFamily="18" charset="-127"/>
              <a:cs typeface="Arial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  • </a:t>
            </a:r>
            <a:r>
              <a:rPr kumimoji="0" lang="ko-KR" altLang="en-US" sz="2600" spc="-40" dirty="0" err="1">
                <a:latin typeface="HY헤드라인M" pitchFamily="18" charset="-127"/>
                <a:ea typeface="HY헤드라인M" pitchFamily="18" charset="-127"/>
                <a:cs typeface="Arial"/>
              </a:rPr>
              <a:t>목침목</a:t>
            </a:r>
            <a:r>
              <a:rPr kumimoji="0" lang="ko-KR" altLang="en-US" sz="2600" spc="-40" dirty="0">
                <a:latin typeface="HY헤드라인M" pitchFamily="18" charset="-127"/>
                <a:ea typeface="HY헤드라인M" pitchFamily="18" charset="-127"/>
                <a:cs typeface="Arial"/>
              </a:rPr>
              <a:t> 대체용 </a:t>
            </a:r>
            <a:r>
              <a:rPr kumimoji="0" lang="ko-KR" altLang="en-US" sz="2600" spc="-4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플라스틱 침목</a:t>
            </a:r>
            <a:r>
              <a:rPr kumimoji="0" lang="ko-KR" altLang="en-US" sz="2600" spc="-40" dirty="0">
                <a:latin typeface="HY헤드라인M" pitchFamily="18" charset="-127"/>
                <a:ea typeface="HY헤드라인M" pitchFamily="18" charset="-127"/>
                <a:cs typeface="Arial"/>
              </a:rPr>
              <a:t>에 </a:t>
            </a:r>
            <a:r>
              <a:rPr kumimoji="0" lang="ko-KR" altLang="en-US" sz="2600" spc="-4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열차 하중 재하 시 응력 및 처짐 평가</a:t>
            </a:r>
            <a:endParaRPr kumimoji="0" lang="en-US" altLang="ko-KR" sz="2600" spc="-40" dirty="0">
              <a:solidFill>
                <a:srgbClr val="0000FF"/>
              </a:solidFill>
              <a:latin typeface="HY헤드라인M" pitchFamily="18" charset="-127"/>
              <a:ea typeface="HY헤드라인M" pitchFamily="18" charset="-127"/>
              <a:cs typeface="Arial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    </a:t>
            </a:r>
            <a:r>
              <a:rPr kumimoji="0" lang="ko-KR" altLang="en-US" sz="2600" dirty="0">
                <a:latin typeface="나눔고딕 ExtraBold"/>
                <a:ea typeface="나눔고딕 ExtraBold"/>
                <a:cs typeface="Arial"/>
              </a:rPr>
              <a:t>⇨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변수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: ISO 12856-1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에 제시된 </a:t>
            </a:r>
            <a:r>
              <a:rPr kumimoji="0" lang="en-US" altLang="ko-KR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Flexural Modulus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 (A, B C Type),</a:t>
            </a: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   </a:t>
            </a:r>
            <a:r>
              <a:rPr kumimoji="0" lang="en-US" altLang="ko-KR" sz="2600" spc="-50" dirty="0">
                <a:latin typeface="HY헤드라인M" pitchFamily="18" charset="-127"/>
                <a:ea typeface="HY헤드라인M" pitchFamily="18" charset="-127"/>
                <a:cs typeface="Arial"/>
              </a:rPr>
              <a:t>     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침목</a:t>
            </a:r>
            <a:r>
              <a:rPr kumimoji="0" lang="en-US" altLang="ko-KR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r>
              <a:rPr kumimoji="0" lang="ko-KR" altLang="en-US" sz="26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  <a:cs typeface="Arial"/>
              </a:rPr>
              <a:t>높이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(130 mm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~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150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mm)</a:t>
            </a: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    </a:t>
            </a:r>
            <a:r>
              <a:rPr kumimoji="0" lang="ko-KR" altLang="en-US" sz="2600" dirty="0">
                <a:latin typeface="나눔고딕 ExtraBold"/>
                <a:ea typeface="나눔고딕 ExtraBold"/>
                <a:cs typeface="Arial"/>
              </a:rPr>
              <a:t>⇨ </a:t>
            </a:r>
            <a:r>
              <a:rPr kumimoji="0" lang="en-US" altLang="ko-KR" sz="2600" dirty="0" err="1">
                <a:latin typeface="HY헤드라인M" pitchFamily="18" charset="-127"/>
                <a:ea typeface="HY헤드라인M" pitchFamily="18" charset="-127"/>
                <a:cs typeface="Arial"/>
              </a:rPr>
              <a:t>prEN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 13230-6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에 제시된 </a:t>
            </a: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rPr>
              <a:t>PSC</a:t>
            </a:r>
            <a:r>
              <a:rPr kumimoji="0" lang="ko-KR" altLang="en-US" sz="2600" dirty="0">
                <a:latin typeface="HY헤드라인M" pitchFamily="18" charset="-127"/>
                <a:ea typeface="HY헤드라인M" pitchFamily="18" charset="-127"/>
                <a:cs typeface="Arial"/>
              </a:rPr>
              <a:t>침목 결과 값과 비교 </a:t>
            </a:r>
            <a:endParaRPr kumimoji="0" lang="en-US" altLang="ko-KR" sz="2600" dirty="0">
              <a:latin typeface="HY헤드라인M" pitchFamily="18" charset="-127"/>
              <a:ea typeface="HY헤드라인M" pitchFamily="18" charset="-127"/>
              <a:cs typeface="Arial"/>
            </a:endParaRPr>
          </a:p>
        </p:txBody>
      </p:sp>
      <p:grpSp>
        <p:nvGrpSpPr>
          <p:cNvPr id="3177" name="그룹 119"/>
          <p:cNvGrpSpPr>
            <a:grpSpLocks/>
          </p:cNvGrpSpPr>
          <p:nvPr/>
        </p:nvGrpSpPr>
        <p:grpSpPr bwMode="auto">
          <a:xfrm>
            <a:off x="10745165" y="26963293"/>
            <a:ext cx="7553325" cy="1152525"/>
            <a:chOff x="6336929" y="11737629"/>
            <a:chExt cx="7553780" cy="1152128"/>
          </a:xfrm>
        </p:grpSpPr>
        <p:pic>
          <p:nvPicPr>
            <p:cNvPr id="3331" name="Picture 78" descr="그림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336929" y="11737629"/>
              <a:ext cx="7553780" cy="1152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32" name="TextBox 121"/>
            <p:cNvSpPr txBox="1">
              <a:spLocks noChangeArrowheads="1"/>
            </p:cNvSpPr>
            <p:nvPr/>
          </p:nvSpPr>
          <p:spPr bwMode="auto">
            <a:xfrm>
              <a:off x="6603645" y="11907510"/>
              <a:ext cx="6861588" cy="7014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4525963"/>
              <a:r>
                <a:rPr kumimoji="0" lang="en-US" altLang="ko-KR" sz="4000" b="1" dirty="0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Ⅳ. Conclusions</a:t>
              </a:r>
              <a:endParaRPr kumimoji="0" lang="ko-KR" altLang="en-US" sz="4000" b="1" dirty="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3080" name="그룹 115"/>
          <p:cNvGrpSpPr>
            <a:grpSpLocks/>
          </p:cNvGrpSpPr>
          <p:nvPr/>
        </p:nvGrpSpPr>
        <p:grpSpPr bwMode="auto">
          <a:xfrm>
            <a:off x="14288" y="11269018"/>
            <a:ext cx="7553325" cy="1150937"/>
            <a:chOff x="6336929" y="11737629"/>
            <a:chExt cx="7553780" cy="1152128"/>
          </a:xfrm>
        </p:grpSpPr>
        <p:pic>
          <p:nvPicPr>
            <p:cNvPr id="3333" name="Picture 78" descr="그림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336929" y="11737629"/>
              <a:ext cx="7553780" cy="1152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34" name="TextBox 114"/>
            <p:cNvSpPr txBox="1">
              <a:spLocks noChangeArrowheads="1"/>
            </p:cNvSpPr>
            <p:nvPr/>
          </p:nvSpPr>
          <p:spPr bwMode="auto">
            <a:xfrm>
              <a:off x="6603645" y="11882241"/>
              <a:ext cx="6861588" cy="708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4525963"/>
              <a:r>
                <a:rPr kumimoji="0" lang="en-US" altLang="ko-KR" sz="4000" b="1" dirty="0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Ⅱ. </a:t>
              </a:r>
              <a:r>
                <a:rPr kumimoji="0" lang="ko-KR" altLang="en-US" sz="4000" b="1" dirty="0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플라스틱 침목 개발 동향</a:t>
              </a:r>
              <a:endParaRPr kumimoji="0" lang="ko-KR" altLang="en-US" sz="4000" b="1" spc="-120" dirty="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3171" name="그룹 3170"/>
          <p:cNvGrpSpPr/>
          <p:nvPr/>
        </p:nvGrpSpPr>
        <p:grpSpPr>
          <a:xfrm>
            <a:off x="10745165" y="2366963"/>
            <a:ext cx="8408889" cy="1150937"/>
            <a:chOff x="10745165" y="2366963"/>
            <a:chExt cx="8408889" cy="1150937"/>
          </a:xfrm>
        </p:grpSpPr>
        <p:pic>
          <p:nvPicPr>
            <p:cNvPr id="163" name="Picture 78" descr="그림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745165" y="2366963"/>
              <a:ext cx="8408889" cy="1150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" name="TextBox 114"/>
            <p:cNvSpPr txBox="1">
              <a:spLocks noChangeArrowheads="1"/>
            </p:cNvSpPr>
            <p:nvPr/>
          </p:nvSpPr>
          <p:spPr bwMode="auto">
            <a:xfrm>
              <a:off x="11011866" y="2511426"/>
              <a:ext cx="7751530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4525963"/>
              <a:r>
                <a:rPr kumimoji="0" lang="en-US" altLang="ko-KR" sz="4000" b="1" dirty="0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Ⅲ. </a:t>
              </a:r>
              <a:r>
                <a:rPr kumimoji="0" lang="ko-KR" altLang="en-US" sz="4000" b="1" dirty="0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침목 </a:t>
              </a:r>
              <a:r>
                <a:rPr kumimoji="0" lang="ko-KR" altLang="en-US" sz="4000" b="1" dirty="0" err="1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변수별</a:t>
              </a:r>
              <a:r>
                <a:rPr kumimoji="0" lang="ko-KR" altLang="en-US" sz="4000" b="1" dirty="0">
                  <a:solidFill>
                    <a:srgbClr val="FFFF00"/>
                  </a:solidFill>
                  <a:latin typeface="HY견고딕" pitchFamily="18" charset="-127"/>
                  <a:ea typeface="HY견고딕" pitchFamily="18" charset="-127"/>
                  <a:cs typeface="Times New Roman" pitchFamily="18" charset="0"/>
                </a:rPr>
                <a:t> 거동 평가</a:t>
              </a:r>
              <a:endParaRPr kumimoji="0" lang="ko-KR" altLang="en-US" sz="4000" b="1" spc="-120" dirty="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endParaRPr>
            </a:p>
          </p:txBody>
        </p:sp>
      </p:grp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0" y="0"/>
            <a:ext cx="21458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1" name="TextBox 39"/>
          <p:cNvSpPr txBox="1"/>
          <p:nvPr/>
        </p:nvSpPr>
        <p:spPr>
          <a:xfrm>
            <a:off x="11012142" y="3371594"/>
            <a:ext cx="10412413" cy="53905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25963">
              <a:lnSpc>
                <a:spcPct val="130000"/>
              </a:lnSpc>
            </a:pPr>
            <a:r>
              <a:rPr kumimoji="0" lang="en-US" altLang="ko-KR" sz="2600" dirty="0">
                <a:latin typeface="HY헤드라인M" pitchFamily="18" charset="-127"/>
                <a:ea typeface="HY헤드라인M" pitchFamily="18" charset="-127"/>
              </a:rPr>
              <a:t>□ 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레일 </a:t>
            </a:r>
            <a:r>
              <a:rPr kumimoji="0" lang="ko-KR" altLang="en-US" sz="2600" dirty="0" err="1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좌면부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 하중 산정</a:t>
            </a:r>
            <a:r>
              <a:rPr kumimoji="0" lang="en-US" altLang="ko-KR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kumimoji="0" lang="en-US" altLang="ko-KR" sz="2600" dirty="0" err="1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prEN</a:t>
            </a:r>
            <a:r>
              <a:rPr kumimoji="0" lang="en-US" altLang="ko-KR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 17318-1</a:t>
            </a:r>
            <a:r>
              <a:rPr kumimoji="0" lang="ko-KR" altLang="en-US" sz="260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에 의거 다음과 같이 산정됨</a:t>
            </a:r>
            <a:endParaRPr kumimoji="0" lang="en-US" altLang="ko-KR" sz="2600" spc="-30" dirty="0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A1F2CF6-26FE-4F4D-9C07-80B199E06FFF}"/>
              </a:ext>
            </a:extLst>
          </p:cNvPr>
          <p:cNvGrpSpPr/>
          <p:nvPr/>
        </p:nvGrpSpPr>
        <p:grpSpPr>
          <a:xfrm>
            <a:off x="145816" y="12444388"/>
            <a:ext cx="10541145" cy="8729441"/>
            <a:chOff x="145816" y="12349138"/>
            <a:chExt cx="10541145" cy="8729441"/>
          </a:xfrm>
        </p:grpSpPr>
        <p:pic>
          <p:nvPicPr>
            <p:cNvPr id="106" name="그림 18" descr="89.png"/>
            <p:cNvPicPr>
              <a:picLocks noChangeAspect="1"/>
            </p:cNvPicPr>
            <p:nvPr/>
          </p:nvPicPr>
          <p:blipFill rotWithShape="1">
            <a:blip r:embed="rId2"/>
            <a:srcRect t="50221" b="24889"/>
            <a:stretch/>
          </p:blipFill>
          <p:spPr bwMode="auto">
            <a:xfrm>
              <a:off x="145817" y="15439898"/>
              <a:ext cx="10540660" cy="2813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7" name="그림 18" descr="89.png"/>
            <p:cNvPicPr>
              <a:picLocks noChangeAspect="1"/>
            </p:cNvPicPr>
            <p:nvPr/>
          </p:nvPicPr>
          <p:blipFill>
            <a:blip r:embed="rId2"/>
            <a:srcRect t="50221"/>
            <a:stretch>
              <a:fillRect/>
            </a:stretch>
          </p:blipFill>
          <p:spPr bwMode="auto">
            <a:xfrm>
              <a:off x="145817" y="18181786"/>
              <a:ext cx="10540660" cy="2896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8" name="그림 18" descr="89.png"/>
            <p:cNvPicPr>
              <a:picLocks noChangeAspect="1"/>
            </p:cNvPicPr>
            <p:nvPr/>
          </p:nvPicPr>
          <p:blipFill>
            <a:blip r:embed="rId2"/>
            <a:srcRect b="25000"/>
            <a:stretch>
              <a:fillRect/>
            </a:stretch>
          </p:blipFill>
          <p:spPr bwMode="auto">
            <a:xfrm>
              <a:off x="145816" y="12349138"/>
              <a:ext cx="10541145" cy="32015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" name="Rectangle 6"/>
            <p:cNvSpPr>
              <a:spLocks noChangeArrowheads="1"/>
            </p:cNvSpPr>
            <p:nvPr/>
          </p:nvSpPr>
          <p:spPr bwMode="auto">
            <a:xfrm>
              <a:off x="270437" y="12458676"/>
              <a:ext cx="435574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buClr>
                  <a:srgbClr val="C00000"/>
                </a:buClr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 </a:t>
              </a:r>
              <a:r>
                <a:rPr lang="ko-KR" altLang="en-US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플라스틱 침목 </a:t>
              </a:r>
              <a:r>
                <a:rPr lang="en-US" altLang="ko-KR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- </a:t>
              </a:r>
              <a:r>
                <a:rPr lang="ko-KR" altLang="en-US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유럽</a:t>
              </a:r>
              <a:endParaRPr lang="en-US" altLang="ko-KR" sz="2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Tahoma" pitchFamily="34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246783" y="13066317"/>
              <a:ext cx="10122296" cy="5740482"/>
            </a:xfrm>
            <a:prstGeom prst="rect">
              <a:avLst/>
            </a:prstGeom>
            <a:noFill/>
          </p:spPr>
          <p:txBody>
            <a:bodyPr wrap="square" rIns="46800">
              <a:spAutoFit/>
            </a:bodyPr>
            <a:lstStyle/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• (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독일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) </a:t>
              </a:r>
              <a:r>
                <a:rPr kumimoji="0" lang="en-US" altLang="ko-KR" sz="2600" dirty="0" err="1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Vossloh</a:t>
              </a:r>
              <a:r>
                <a:rPr kumimoji="0" lang="ko-KR" altLang="en-US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사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: </a:t>
              </a:r>
              <a:r>
                <a:rPr kumimoji="0" lang="en-US" altLang="ko-KR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Engineered Polymer Sleeper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(EPS)</a:t>
              </a: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재활용 폴리머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, 0.8 mm </a:t>
              </a:r>
              <a:r>
                <a:rPr kumimoji="0" lang="ko-KR" altLang="en-US" sz="2600" dirty="0" err="1">
                  <a:latin typeface="HY헤드라인M" pitchFamily="18" charset="-127"/>
                  <a:ea typeface="HY헤드라인M" pitchFamily="18" charset="-127"/>
                  <a:cs typeface="Arial"/>
                </a:rPr>
                <a:t>잔골재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및 환경저항성 확보용 첨가제 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보강철근 적용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,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제품 성능평가 완료 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(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미국시장 진출 준비中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)</a:t>
              </a: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</a:rPr>
                <a:t>  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• (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네덜란드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) </a:t>
              </a:r>
              <a:r>
                <a:rPr kumimoji="0" lang="en-US" altLang="ko-KR" sz="2600" dirty="0" err="1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Lankhorst</a:t>
              </a:r>
              <a:r>
                <a:rPr kumimoji="0" lang="ko-KR" altLang="en-US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사</a:t>
              </a:r>
              <a:r>
                <a:rPr kumimoji="0" lang="en-US" altLang="ko-KR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: Hybrid Polymer Sleeper</a:t>
              </a: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재활용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플라스틱 폴리머에 보강철근 사용하여 침목 개발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   *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목침목과 콘크리트 침목 중간 레벨 침목 표방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일반구간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,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교량 및 분기기에 사용 가능한 다양한 모델 개발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</a:endParaRPr>
            </a:p>
          </p:txBody>
        </p:sp>
        <p:pic>
          <p:nvPicPr>
            <p:cNvPr id="102" name="_x220623512" descr="EMB000054047a3f">
              <a:extLst>
                <a:ext uri="{FF2B5EF4-FFF2-40B4-BE49-F238E27FC236}">
                  <a16:creationId xmlns:a16="http://schemas.microsoft.com/office/drawing/2014/main" id="{F3DAE732-D832-4A03-9129-263A2BBE8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2285" y="14717578"/>
              <a:ext cx="2674191" cy="1940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2">
              <a:extLst>
                <a:ext uri="{FF2B5EF4-FFF2-40B4-BE49-F238E27FC236}">
                  <a16:creationId xmlns:a16="http://schemas.microsoft.com/office/drawing/2014/main" id="{3D3997CE-8027-45C1-BE6B-EAB7B6FC0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777" y="14717578"/>
              <a:ext cx="1624383" cy="1938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2">
              <a:extLst>
                <a:ext uri="{FF2B5EF4-FFF2-40B4-BE49-F238E27FC236}">
                  <a16:creationId xmlns:a16="http://schemas.microsoft.com/office/drawing/2014/main" id="{69219365-B57E-4447-9DF1-2EDFD5E2C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600" y="14717578"/>
              <a:ext cx="4534455" cy="1875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D47E5D5D-692F-4734-8EB1-C4E18EE20D4D}"/>
                </a:ext>
              </a:extLst>
            </p:cNvPr>
            <p:cNvSpPr/>
            <p:nvPr/>
          </p:nvSpPr>
          <p:spPr bwMode="auto">
            <a:xfrm>
              <a:off x="7639249" y="16415607"/>
              <a:ext cx="351458" cy="22758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2" name="Picture 2">
              <a:extLst>
                <a:ext uri="{FF2B5EF4-FFF2-40B4-BE49-F238E27FC236}">
                  <a16:creationId xmlns:a16="http://schemas.microsoft.com/office/drawing/2014/main" id="{F3AF753E-6335-4453-8536-6E2ED077F3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880" y="18880739"/>
              <a:ext cx="2561431" cy="1862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4">
              <a:extLst>
                <a:ext uri="{FF2B5EF4-FFF2-40B4-BE49-F238E27FC236}">
                  <a16:creationId xmlns:a16="http://schemas.microsoft.com/office/drawing/2014/main" id="{D0EF7FF6-EC17-4972-A998-25F4932D3D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3082" y="18880739"/>
              <a:ext cx="2521795" cy="1862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" name="Picture 5">
              <a:extLst>
                <a:ext uri="{FF2B5EF4-FFF2-40B4-BE49-F238E27FC236}">
                  <a16:creationId xmlns:a16="http://schemas.microsoft.com/office/drawing/2014/main" id="{C9B221B8-ED89-4D3A-8FFA-8F35C1A85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751" y="18880737"/>
              <a:ext cx="2391722" cy="1862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0844567-EC25-4A2E-8CF1-9BF84738B62E}"/>
              </a:ext>
            </a:extLst>
          </p:cNvPr>
          <p:cNvGrpSpPr/>
          <p:nvPr/>
        </p:nvGrpSpPr>
        <p:grpSpPr>
          <a:xfrm>
            <a:off x="145816" y="21278130"/>
            <a:ext cx="10541145" cy="8729441"/>
            <a:chOff x="145816" y="21278130"/>
            <a:chExt cx="10541145" cy="8729441"/>
          </a:xfrm>
        </p:grpSpPr>
        <p:pic>
          <p:nvPicPr>
            <p:cNvPr id="136" name="그림 18" descr="89.png">
              <a:extLst>
                <a:ext uri="{FF2B5EF4-FFF2-40B4-BE49-F238E27FC236}">
                  <a16:creationId xmlns:a16="http://schemas.microsoft.com/office/drawing/2014/main" id="{FE046710-40CB-4731-A598-56DC368845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0221" b="24889"/>
            <a:stretch/>
          </p:blipFill>
          <p:spPr bwMode="auto">
            <a:xfrm>
              <a:off x="145817" y="24368890"/>
              <a:ext cx="10540660" cy="2813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1" name="그림 18" descr="89.png">
              <a:extLst>
                <a:ext uri="{FF2B5EF4-FFF2-40B4-BE49-F238E27FC236}">
                  <a16:creationId xmlns:a16="http://schemas.microsoft.com/office/drawing/2014/main" id="{C7E4C4E1-392B-4B3A-BE48-39E014CD6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221"/>
            <a:stretch>
              <a:fillRect/>
            </a:stretch>
          </p:blipFill>
          <p:spPr bwMode="auto">
            <a:xfrm>
              <a:off x="145817" y="27110778"/>
              <a:ext cx="10540660" cy="2896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2" name="그림 18" descr="89.png">
              <a:extLst>
                <a:ext uri="{FF2B5EF4-FFF2-40B4-BE49-F238E27FC236}">
                  <a16:creationId xmlns:a16="http://schemas.microsoft.com/office/drawing/2014/main" id="{B24844DF-0951-4827-8B74-DF1475336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5000"/>
            <a:stretch>
              <a:fillRect/>
            </a:stretch>
          </p:blipFill>
          <p:spPr bwMode="auto">
            <a:xfrm>
              <a:off x="145816" y="21278130"/>
              <a:ext cx="10541145" cy="32015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" name="Rectangle 6">
              <a:extLst>
                <a:ext uri="{FF2B5EF4-FFF2-40B4-BE49-F238E27FC236}">
                  <a16:creationId xmlns:a16="http://schemas.microsoft.com/office/drawing/2014/main" id="{7C71F7D2-0D68-4B8B-BC89-F9CD9261E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437" y="21387668"/>
              <a:ext cx="435574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buClr>
                  <a:srgbClr val="C00000"/>
                </a:buClr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 </a:t>
              </a:r>
              <a:r>
                <a:rPr lang="ko-KR" altLang="en-US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플라스틱 침목 </a:t>
              </a:r>
              <a:r>
                <a:rPr lang="en-US" altLang="ko-KR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- </a:t>
              </a:r>
              <a:r>
                <a:rPr lang="ko-KR" altLang="en-US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북미</a:t>
              </a:r>
              <a:endParaRPr lang="en-US" altLang="ko-KR" sz="2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Tahoma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A243C-B2FF-4EBC-B947-4F4A42721BE9}"/>
                </a:ext>
              </a:extLst>
            </p:cNvPr>
            <p:cNvSpPr txBox="1"/>
            <p:nvPr/>
          </p:nvSpPr>
          <p:spPr>
            <a:xfrm>
              <a:off x="246783" y="21995309"/>
              <a:ext cx="10122296" cy="5740482"/>
            </a:xfrm>
            <a:prstGeom prst="rect">
              <a:avLst/>
            </a:prstGeom>
            <a:noFill/>
          </p:spPr>
          <p:txBody>
            <a:bodyPr wrap="square" rIns="46800">
              <a:spAutoFit/>
            </a:bodyPr>
            <a:lstStyle/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• (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미국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) </a:t>
              </a:r>
              <a:r>
                <a:rPr kumimoji="0" lang="en-US" altLang="ko-KR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Axion</a:t>
              </a:r>
              <a:r>
                <a:rPr kumimoji="0" lang="ko-KR" altLang="en-US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사</a:t>
              </a:r>
              <a:r>
                <a:rPr kumimoji="0" lang="en-US" altLang="ko-KR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: Composite Railroad Tie</a:t>
              </a: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폐플라스틱 별 폐기물을 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100%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재활용하고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,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보강철근 적용 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미국 내 적용 실적을 바탕으로 아시아 시장 확보 위한 영업 中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</a:rPr>
                <a:t>  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• (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미국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) </a:t>
              </a:r>
              <a:r>
                <a:rPr kumimoji="0" lang="en-US" altLang="ko-KR" sz="2600" dirty="0" err="1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TieTek</a:t>
              </a:r>
              <a:r>
                <a:rPr kumimoji="0" lang="ko-KR" altLang="en-US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사</a:t>
              </a:r>
              <a:r>
                <a:rPr kumimoji="0" lang="en-US" altLang="ko-KR" sz="26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  <a:cs typeface="Arial"/>
                </a:rPr>
                <a:t>: Composite Crossties</a:t>
              </a: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재활용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비율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85%(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폐플라스틱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,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폐고무타이어 등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)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및 광물질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   </a:t>
              </a:r>
              <a:r>
                <a:rPr kumimoji="0" lang="ko-KR" altLang="en-US" sz="2600" dirty="0" err="1">
                  <a:latin typeface="HY헤드라인M" pitchFamily="18" charset="-127"/>
                  <a:ea typeface="HY헤드라인M" pitchFamily="18" charset="-127"/>
                  <a:cs typeface="Arial"/>
                </a:rPr>
                <a:t>채움제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15%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혼합 적용하여 침목 제조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  <a:cs typeface="Arial"/>
              </a:endParaRPr>
            </a:p>
            <a:p>
              <a:pPr defTabSz="4525963">
                <a:lnSpc>
                  <a:spcPct val="130000"/>
                </a:lnSpc>
                <a:defRPr/>
              </a:pP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     -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하중</a:t>
              </a:r>
              <a:r>
                <a:rPr kumimoji="0" lang="en-US" altLang="ko-KR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, </a:t>
              </a:r>
              <a:r>
                <a:rPr kumimoji="0" lang="ko-KR" altLang="en-US" sz="2600" dirty="0">
                  <a:latin typeface="HY헤드라인M" pitchFamily="18" charset="-127"/>
                  <a:ea typeface="HY헤드라인M" pitchFamily="18" charset="-127"/>
                  <a:cs typeface="Arial"/>
                </a:rPr>
                <a:t>마모 및 환경저항성 보장에 초점 맞춤</a:t>
              </a:r>
              <a:endParaRPr kumimoji="0" lang="en-US" altLang="ko-KR" sz="2600" dirty="0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D02A06AC-698F-47FC-8BD9-EC9B8780EEC9}"/>
                </a:ext>
              </a:extLst>
            </p:cNvPr>
            <p:cNvSpPr/>
            <p:nvPr/>
          </p:nvSpPr>
          <p:spPr bwMode="auto">
            <a:xfrm>
              <a:off x="7639249" y="25344599"/>
              <a:ext cx="351458" cy="22758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4C6C36E8-9E27-49EB-8E2A-A407193421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9341" r="5492"/>
            <a:stretch/>
          </p:blipFill>
          <p:spPr>
            <a:xfrm>
              <a:off x="359967" y="23642987"/>
              <a:ext cx="3618304" cy="1936494"/>
            </a:xfrm>
            <a:prstGeom prst="rect">
              <a:avLst/>
            </a:prstGeom>
          </p:spPr>
        </p:pic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1D82C2BA-4CBD-4C01-BFFB-33951F9B1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096999" y="23642987"/>
              <a:ext cx="3397997" cy="1936493"/>
            </a:xfrm>
            <a:prstGeom prst="rect">
              <a:avLst/>
            </a:prstGeom>
          </p:spPr>
        </p:pic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2FC05B0B-0FB6-4499-8A44-0BF723322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13725" y="23676745"/>
              <a:ext cx="2855969" cy="1938778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ED3A0FAD-5EB6-463C-BB77-972C7430D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292827" y="27727641"/>
              <a:ext cx="2021776" cy="1842272"/>
            </a:xfrm>
            <a:prstGeom prst="rect">
              <a:avLst/>
            </a:prstGeom>
          </p:spPr>
        </p:pic>
        <p:pic>
          <p:nvPicPr>
            <p:cNvPr id="126" name="그림 125">
              <a:extLst>
                <a:ext uri="{FF2B5EF4-FFF2-40B4-BE49-F238E27FC236}">
                  <a16:creationId xmlns:a16="http://schemas.microsoft.com/office/drawing/2014/main" id="{2BD6960D-E3CF-4709-8A63-DEA50817A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281262" y="27727641"/>
              <a:ext cx="1777403" cy="1842272"/>
            </a:xfrm>
            <a:prstGeom prst="rect">
              <a:avLst/>
            </a:prstGeom>
          </p:spPr>
        </p:pic>
        <p:pic>
          <p:nvPicPr>
            <p:cNvPr id="127" name="Picture 3">
              <a:extLst>
                <a:ext uri="{FF2B5EF4-FFF2-40B4-BE49-F238E27FC236}">
                  <a16:creationId xmlns:a16="http://schemas.microsoft.com/office/drawing/2014/main" id="{83602854-6AFF-4373-B751-3773525FF3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983" y="27727639"/>
              <a:ext cx="2543117" cy="1862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Picture 4">
              <a:extLst>
                <a:ext uri="{FF2B5EF4-FFF2-40B4-BE49-F238E27FC236}">
                  <a16:creationId xmlns:a16="http://schemas.microsoft.com/office/drawing/2014/main" id="{6DE4CC8F-4BC9-4B39-8FDF-28AD9F843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8765" y="27735791"/>
              <a:ext cx="2748306" cy="183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0A58F6EE-EB1E-4B7E-8071-C3380C77CF89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2262"/>
          <a:stretch/>
        </p:blipFill>
        <p:spPr>
          <a:xfrm>
            <a:off x="11237447" y="3941505"/>
            <a:ext cx="9886950" cy="3761073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3" name="TextBox 39"/>
          <p:cNvSpPr txBox="1"/>
          <p:nvPr/>
        </p:nvSpPr>
        <p:spPr>
          <a:xfrm>
            <a:off x="14169756" y="4098622"/>
            <a:ext cx="1728192" cy="470385"/>
          </a:xfrm>
          <a:prstGeom prst="rect">
            <a:avLst/>
          </a:prstGeom>
          <a:solidFill>
            <a:srgbClr val="CCFF99"/>
          </a:solidFill>
        </p:spPr>
        <p:txBody>
          <a:bodyPr wrap="square">
            <a:spAutoFit/>
          </a:bodyPr>
          <a:lstStyle/>
          <a:p>
            <a:pPr defTabSz="4525963">
              <a:lnSpc>
                <a:spcPct val="130000"/>
              </a:lnSpc>
            </a:pPr>
            <a:r>
              <a:rPr kumimoji="0" lang="en-US" altLang="ko-KR" sz="2200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= 102.32 </a:t>
            </a:r>
            <a:r>
              <a:rPr kumimoji="0" lang="en-US" altLang="ko-KR" sz="2200" dirty="0" err="1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kN</a:t>
            </a:r>
            <a:endParaRPr kumimoji="0" lang="ko-KR" altLang="en-US" sz="2200" spc="-10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B05094D-8D4B-430C-8D53-9286EB489CF4}"/>
              </a:ext>
            </a:extLst>
          </p:cNvPr>
          <p:cNvGrpSpPr/>
          <p:nvPr/>
        </p:nvGrpSpPr>
        <p:grpSpPr>
          <a:xfrm>
            <a:off x="11468955" y="8494254"/>
            <a:ext cx="9222377" cy="2450153"/>
            <a:chOff x="11468955" y="8494254"/>
            <a:chExt cx="9222377" cy="245015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637937D-3909-4A4E-9825-7FB0DC7AC8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88" t="4925" r="3554" b="58607"/>
            <a:stretch/>
          </p:blipFill>
          <p:spPr>
            <a:xfrm>
              <a:off x="11468955" y="8494254"/>
              <a:ext cx="9222377" cy="1799304"/>
            </a:xfrm>
            <a:prstGeom prst="rect">
              <a:avLst/>
            </a:prstGeom>
          </p:spPr>
        </p:pic>
        <p:sp>
          <p:nvSpPr>
            <p:cNvPr id="177" name="TextBox 39"/>
            <p:cNvSpPr txBox="1"/>
            <p:nvPr/>
          </p:nvSpPr>
          <p:spPr>
            <a:xfrm>
              <a:off x="17822015" y="10175296"/>
              <a:ext cx="1668591" cy="400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25963">
                <a:lnSpc>
                  <a:spcPct val="130000"/>
                </a:lnSpc>
              </a:pPr>
              <a:r>
                <a:rPr kumimoji="0" lang="en-US" altLang="ko-KR" sz="1800" spc="-1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C</a:t>
              </a:r>
              <a:r>
                <a:rPr kumimoji="0" lang="en-US" altLang="ko-KR" sz="1800" spc="-100" baseline="-25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B</a:t>
              </a:r>
              <a:r>
                <a:rPr kumimoji="0" lang="en-US" altLang="ko-KR" sz="1800" spc="-1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 = 0.1 N/mm</a:t>
              </a:r>
              <a:r>
                <a:rPr kumimoji="0" lang="en-US" altLang="ko-KR" sz="1800" spc="-100" baseline="30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3</a:t>
              </a:r>
              <a:endParaRPr kumimoji="0" lang="ko-KR" altLang="en-US" sz="1800" spc="-100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59" name="TextBox 39">
              <a:extLst>
                <a:ext uri="{FF2B5EF4-FFF2-40B4-BE49-F238E27FC236}">
                  <a16:creationId xmlns:a16="http://schemas.microsoft.com/office/drawing/2014/main" id="{7FFC8472-78B2-4EA7-91DE-1155EF0327E9}"/>
                </a:ext>
              </a:extLst>
            </p:cNvPr>
            <p:cNvSpPr txBox="1"/>
            <p:nvPr/>
          </p:nvSpPr>
          <p:spPr>
            <a:xfrm>
              <a:off x="17822015" y="10542759"/>
              <a:ext cx="1668591" cy="401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25963">
                <a:lnSpc>
                  <a:spcPct val="130000"/>
                </a:lnSpc>
              </a:pPr>
              <a:r>
                <a:rPr kumimoji="0" lang="en-US" altLang="ko-KR" sz="1800" spc="-1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b</a:t>
              </a:r>
              <a:r>
                <a:rPr kumimoji="0" lang="en-US" altLang="ko-KR" sz="1800" spc="-100" baseline="-25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i</a:t>
              </a:r>
              <a:r>
                <a:rPr kumimoji="0" lang="en-US" altLang="ko-KR" sz="1800" spc="-1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 = 240 mm</a:t>
              </a:r>
              <a:endParaRPr kumimoji="0" lang="ko-KR" altLang="en-US" sz="1800" spc="-100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B3305F0E-7F0B-4D04-83A8-1A9E57EE1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092041"/>
              </p:ext>
            </p:extLst>
          </p:nvPr>
        </p:nvGraphicFramePr>
        <p:xfrm>
          <a:off x="11444030" y="12735742"/>
          <a:ext cx="9488474" cy="4030413"/>
        </p:xfrm>
        <a:graphic>
          <a:graphicData uri="http://schemas.openxmlformats.org/drawingml/2006/table">
            <a:tbl>
              <a:tblPr/>
              <a:tblGrid>
                <a:gridCol w="1392842">
                  <a:extLst>
                    <a:ext uri="{9D8B030D-6E8A-4147-A177-3AD203B41FA5}">
                      <a16:colId xmlns:a16="http://schemas.microsoft.com/office/drawing/2014/main" val="2874573519"/>
                    </a:ext>
                  </a:extLst>
                </a:gridCol>
                <a:gridCol w="1981689">
                  <a:extLst>
                    <a:ext uri="{9D8B030D-6E8A-4147-A177-3AD203B41FA5}">
                      <a16:colId xmlns:a16="http://schemas.microsoft.com/office/drawing/2014/main" val="2333566416"/>
                    </a:ext>
                  </a:extLst>
                </a:gridCol>
                <a:gridCol w="2751318">
                  <a:extLst>
                    <a:ext uri="{9D8B030D-6E8A-4147-A177-3AD203B41FA5}">
                      <a16:colId xmlns:a16="http://schemas.microsoft.com/office/drawing/2014/main" val="7583660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91145844"/>
                    </a:ext>
                  </a:extLst>
                </a:gridCol>
                <a:gridCol w="2138489">
                  <a:extLst>
                    <a:ext uri="{9D8B030D-6E8A-4147-A177-3AD203B41FA5}">
                      <a16:colId xmlns:a16="http://schemas.microsoft.com/office/drawing/2014/main" val="2072812889"/>
                    </a:ext>
                  </a:extLst>
                </a:gridCol>
              </a:tblGrid>
              <a:tr h="563966">
                <a:tc>
                  <a:txBody>
                    <a:bodyPr/>
                    <a:lstStyle/>
                    <a:p>
                      <a:pPr marL="0" marR="0" indent="0" algn="ctr" defTabSz="2787384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Case No.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2787384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물성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2787384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침목 제원</a:t>
                      </a:r>
                      <a:r>
                        <a:rPr lang="en-US" altLang="ko-KR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mm</a:t>
                      </a:r>
                    </a:p>
                    <a:p>
                      <a:pPr marL="0" marR="0" indent="0" algn="ctr" defTabSz="2787384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(W×H×L)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2787384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2e, mm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2787384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Flexural</a:t>
                      </a:r>
                    </a:p>
                    <a:p>
                      <a:pPr marL="0" marR="0" indent="0" algn="ctr" defTabSz="2787384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2000" b="0" kern="1200" spc="-100" baseline="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Modulus (MPa)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37173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ISO 12856-1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Type A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240×150×2,500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295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6,000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휨 강도 </a:t>
                      </a:r>
                      <a:r>
                        <a:rPr lang="en-US" altLang="ko-KR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28MPa)</a:t>
                      </a:r>
                      <a:endParaRPr lang="en-US" sz="2000" kern="0" spc="-100" baseline="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61850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240×130×2,500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275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0" spc="-4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232159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240×110×2,500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0" spc="-4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785159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ISO 12856-1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Type B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240×150×2,500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295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2,500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휨 강도 </a:t>
                      </a:r>
                      <a:r>
                        <a:rPr lang="en-US" altLang="ko-KR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18MPa)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447804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240×130×2,500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275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0" spc="-4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666265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240×110×2,500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0" spc="-4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626335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ISO 12856-1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Type C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240×150×2,500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295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1,170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휨 강도 </a:t>
                      </a:r>
                      <a:r>
                        <a:rPr lang="en-US" altLang="ko-KR" sz="2000" kern="0" spc="-100" baseline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13.8MPa)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80908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240×130×2,500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275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0" spc="-4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43526"/>
                  </a:ext>
                </a:extLst>
              </a:tr>
              <a:tr h="345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240×110×2,500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4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0" spc="-40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890060"/>
                  </a:ext>
                </a:extLst>
              </a:tr>
            </a:tbl>
          </a:graphicData>
        </a:graphic>
      </p:graphicFrame>
      <p:sp>
        <p:nvSpPr>
          <p:cNvPr id="129" name="직사각형 14">
            <a:extLst>
              <a:ext uri="{FF2B5EF4-FFF2-40B4-BE49-F238E27FC236}">
                <a16:creationId xmlns:a16="http://schemas.microsoft.com/office/drawing/2014/main" id="{85F0E238-F4EB-40AF-B073-CF4421006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5025" y="11958180"/>
            <a:ext cx="3906851" cy="449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140178" tIns="70089" rIns="140178" bIns="70089">
            <a:spAutoFit/>
          </a:bodyPr>
          <a:lstStyle>
            <a:lvl1pPr marL="700088" indent="-700088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/>
            <a:r>
              <a:rPr lang="en-US" altLang="ko-KR" sz="20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울릉도M"/>
              </a:rPr>
              <a:t>*</a:t>
            </a:r>
            <a:r>
              <a:rPr lang="ko-KR" altLang="en-US" sz="20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울릉도M"/>
              </a:rPr>
              <a:t>출처</a:t>
            </a:r>
            <a:r>
              <a:rPr lang="en-US" altLang="ko-KR" sz="20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울릉도M"/>
              </a:rPr>
              <a:t>: </a:t>
            </a:r>
            <a:r>
              <a:rPr lang="en-US" altLang="ko-KR" sz="20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울릉도M"/>
              </a:rPr>
              <a:t>prEN</a:t>
            </a:r>
            <a:r>
              <a:rPr lang="en-US" altLang="ko-KR" sz="20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울릉도M"/>
              </a:rPr>
              <a:t> 17318-1, </a:t>
            </a:r>
            <a:r>
              <a:rPr lang="en-US" altLang="ko-KR" sz="2000" dirty="0" err="1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울릉도M"/>
              </a:rPr>
              <a:t>Aneex</a:t>
            </a:r>
            <a:r>
              <a:rPr lang="en-US" altLang="ko-KR" sz="20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HY울릉도M"/>
              </a:rPr>
              <a:t> B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9320A54-836B-4337-9CFD-0C2ACDB05E82}"/>
              </a:ext>
            </a:extLst>
          </p:cNvPr>
          <p:cNvGrpSpPr/>
          <p:nvPr/>
        </p:nvGrpSpPr>
        <p:grpSpPr>
          <a:xfrm>
            <a:off x="10822157" y="17010274"/>
            <a:ext cx="10541145" cy="10087490"/>
            <a:chOff x="10822157" y="16951280"/>
            <a:chExt cx="10541145" cy="10087490"/>
          </a:xfrm>
        </p:grpSpPr>
        <p:sp>
          <p:nvSpPr>
            <p:cNvPr id="140" name="Rectangle 6"/>
            <p:cNvSpPr>
              <a:spLocks noChangeArrowheads="1"/>
            </p:cNvSpPr>
            <p:nvPr/>
          </p:nvSpPr>
          <p:spPr bwMode="auto">
            <a:xfrm>
              <a:off x="10946777" y="17085498"/>
              <a:ext cx="4194585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buClr>
                  <a:srgbClr val="C00000"/>
                </a:buClr>
                <a:defRPr/>
              </a:pPr>
              <a:r>
                <a:rPr lang="en-US" altLang="ko-KR" sz="2800" b="1" spc="-1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 </a:t>
              </a:r>
              <a:r>
                <a:rPr lang="ko-KR" altLang="en-US" sz="2800" b="1" spc="-10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해석 결과 및 분석</a:t>
              </a:r>
              <a:endParaRPr lang="en-US" altLang="ko-KR" sz="2800" b="1" spc="-1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Tahoma" pitchFamily="34" charset="0"/>
              </a:endParaRPr>
            </a:p>
          </p:txBody>
        </p:sp>
        <p:pic>
          <p:nvPicPr>
            <p:cNvPr id="162" name="그림 18" descr="89.png">
              <a:extLst>
                <a:ext uri="{FF2B5EF4-FFF2-40B4-BE49-F238E27FC236}">
                  <a16:creationId xmlns:a16="http://schemas.microsoft.com/office/drawing/2014/main" id="{6684BB6B-DC2F-478F-964B-772BBC3FC0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0221" b="24889"/>
            <a:stretch/>
          </p:blipFill>
          <p:spPr bwMode="auto">
            <a:xfrm>
              <a:off x="10822158" y="19833032"/>
              <a:ext cx="10540660" cy="44460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" name="그림 18" descr="89.png">
              <a:extLst>
                <a:ext uri="{FF2B5EF4-FFF2-40B4-BE49-F238E27FC236}">
                  <a16:creationId xmlns:a16="http://schemas.microsoft.com/office/drawing/2014/main" id="{7BBB3F3B-5A90-436D-8BBD-6E27630D2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221"/>
            <a:stretch>
              <a:fillRect/>
            </a:stretch>
          </p:blipFill>
          <p:spPr bwMode="auto">
            <a:xfrm>
              <a:off x="10822158" y="24141977"/>
              <a:ext cx="10540660" cy="2896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7" name="그림 18" descr="89.png">
              <a:extLst>
                <a:ext uri="{FF2B5EF4-FFF2-40B4-BE49-F238E27FC236}">
                  <a16:creationId xmlns:a16="http://schemas.microsoft.com/office/drawing/2014/main" id="{C3F35276-E9E9-43E4-9096-2EBF6245E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5000"/>
            <a:stretch>
              <a:fillRect/>
            </a:stretch>
          </p:blipFill>
          <p:spPr bwMode="auto">
            <a:xfrm>
              <a:off x="10822157" y="16951280"/>
              <a:ext cx="10541145" cy="32015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" name="Rectangle 6">
              <a:extLst>
                <a:ext uri="{FF2B5EF4-FFF2-40B4-BE49-F238E27FC236}">
                  <a16:creationId xmlns:a16="http://schemas.microsoft.com/office/drawing/2014/main" id="{4778F580-3E91-43E2-B0EE-CE17FD120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4597" y="17059959"/>
              <a:ext cx="435574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buClr>
                  <a:srgbClr val="C00000"/>
                </a:buClr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 </a:t>
              </a:r>
              <a:r>
                <a:rPr lang="ko-KR" altLang="en-US" sz="28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Tahoma" pitchFamily="34" charset="0"/>
                </a:rPr>
                <a:t>해석 결과</a:t>
              </a:r>
              <a:endParaRPr lang="en-US" altLang="ko-KR" sz="2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Tahoma" pitchFamily="34" charset="0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0CD8532-DA44-4B58-A2D1-5B8AF6057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5960550" y="18380175"/>
              <a:ext cx="5234918" cy="4517925"/>
            </a:xfrm>
            <a:prstGeom prst="rect">
              <a:avLst/>
            </a:prstGeom>
          </p:spPr>
        </p:pic>
        <p:pic>
          <p:nvPicPr>
            <p:cNvPr id="26" name="_x671513304" descr="EMB000029d00115">
              <a:extLst>
                <a:ext uri="{FF2B5EF4-FFF2-40B4-BE49-F238E27FC236}">
                  <a16:creationId xmlns:a16="http://schemas.microsoft.com/office/drawing/2014/main" id="{DED3D6D7-358E-44C3-B48B-CE2D9B78E7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720"/>
            <a:stretch/>
          </p:blipFill>
          <p:spPr bwMode="auto">
            <a:xfrm>
              <a:off x="11006968" y="18008926"/>
              <a:ext cx="4690703" cy="763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9" name="TextBox 39">
              <a:extLst>
                <a:ext uri="{FF2B5EF4-FFF2-40B4-BE49-F238E27FC236}">
                  <a16:creationId xmlns:a16="http://schemas.microsoft.com/office/drawing/2014/main" id="{37CDDD24-52A6-4D35-AE5D-FAC42BF2FDD7}"/>
                </a:ext>
              </a:extLst>
            </p:cNvPr>
            <p:cNvSpPr txBox="1"/>
            <p:nvPr/>
          </p:nvSpPr>
          <p:spPr>
            <a:xfrm>
              <a:off x="10994436" y="17700315"/>
              <a:ext cx="2065044" cy="5507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defTabSz="4525963">
                <a:lnSpc>
                  <a:spcPct val="130000"/>
                </a:lnSpc>
              </a:pPr>
              <a:r>
                <a:rPr kumimoji="0" lang="en-US" altLang="ko-KR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Half</a:t>
              </a:r>
              <a:r>
                <a:rPr kumimoji="0" lang="ko-KR" altLang="en-US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 모델링</a:t>
              </a:r>
            </a:p>
          </p:txBody>
        </p:sp>
        <p:sp>
          <p:nvSpPr>
            <p:cNvPr id="180" name="TextBox 39">
              <a:extLst>
                <a:ext uri="{FF2B5EF4-FFF2-40B4-BE49-F238E27FC236}">
                  <a16:creationId xmlns:a16="http://schemas.microsoft.com/office/drawing/2014/main" id="{39A68854-BFAB-45F3-AE4D-7A3E2E3EBA92}"/>
                </a:ext>
              </a:extLst>
            </p:cNvPr>
            <p:cNvSpPr txBox="1"/>
            <p:nvPr/>
          </p:nvSpPr>
          <p:spPr>
            <a:xfrm>
              <a:off x="10994436" y="18753658"/>
              <a:ext cx="2065044" cy="5507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defTabSz="4525963">
                <a:lnSpc>
                  <a:spcPct val="130000"/>
                </a:lnSpc>
              </a:pPr>
              <a:r>
                <a:rPr kumimoji="0" lang="ko-KR" altLang="en-US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처짐 형상</a:t>
              </a:r>
            </a:p>
          </p:txBody>
        </p:sp>
        <p:pic>
          <p:nvPicPr>
            <p:cNvPr id="1030" name="_x691519224" descr="EMB000029d00116">
              <a:extLst>
                <a:ext uri="{FF2B5EF4-FFF2-40B4-BE49-F238E27FC236}">
                  <a16:creationId xmlns:a16="http://schemas.microsoft.com/office/drawing/2014/main" id="{018FF493-D5A2-4A89-956B-37FE44795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06969" y="19323477"/>
              <a:ext cx="4690702" cy="1192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1" name="직사각형 14">
              <a:extLst>
                <a:ext uri="{FF2B5EF4-FFF2-40B4-BE49-F238E27FC236}">
                  <a16:creationId xmlns:a16="http://schemas.microsoft.com/office/drawing/2014/main" id="{C2AA5378-E37F-4689-8434-383E14319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4404" y="18793533"/>
              <a:ext cx="1524298" cy="449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0178" tIns="70089" rIns="140178" bIns="70089">
              <a:spAutoFit/>
            </a:bodyPr>
            <a:lstStyle>
              <a:lvl1pPr marL="700088" indent="-700088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/>
              <a:r>
                <a:rPr lang="en-US" altLang="ko-KR" sz="2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☞ Case 1</a:t>
              </a:r>
            </a:p>
          </p:txBody>
        </p:sp>
        <p:sp>
          <p:nvSpPr>
            <p:cNvPr id="182" name="TextBox 39">
              <a:extLst>
                <a:ext uri="{FF2B5EF4-FFF2-40B4-BE49-F238E27FC236}">
                  <a16:creationId xmlns:a16="http://schemas.microsoft.com/office/drawing/2014/main" id="{535DD828-0C6A-49BE-81FB-8E02A13FB259}"/>
                </a:ext>
              </a:extLst>
            </p:cNvPr>
            <p:cNvSpPr txBox="1"/>
            <p:nvPr/>
          </p:nvSpPr>
          <p:spPr>
            <a:xfrm>
              <a:off x="15960550" y="17700315"/>
              <a:ext cx="2065044" cy="5507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defTabSz="4525963">
                <a:lnSpc>
                  <a:spcPct val="130000"/>
                </a:lnSpc>
              </a:pPr>
              <a:r>
                <a:rPr kumimoji="0" lang="ko-KR" altLang="en-US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해 석 결 과</a:t>
              </a:r>
            </a:p>
          </p:txBody>
        </p:sp>
        <p:sp>
          <p:nvSpPr>
            <p:cNvPr id="183" name="TextBox 39">
              <a:extLst>
                <a:ext uri="{FF2B5EF4-FFF2-40B4-BE49-F238E27FC236}">
                  <a16:creationId xmlns:a16="http://schemas.microsoft.com/office/drawing/2014/main" id="{FD776041-D0B6-4EE9-9DDE-D438EED9ACDD}"/>
                </a:ext>
              </a:extLst>
            </p:cNvPr>
            <p:cNvSpPr txBox="1"/>
            <p:nvPr/>
          </p:nvSpPr>
          <p:spPr>
            <a:xfrm>
              <a:off x="10994436" y="20549666"/>
              <a:ext cx="2065044" cy="5507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defTabSz="4525963">
                <a:lnSpc>
                  <a:spcPct val="130000"/>
                </a:lnSpc>
              </a:pPr>
              <a:r>
                <a:rPr kumimoji="0" lang="ko-KR" altLang="en-US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응력 크기</a:t>
              </a:r>
            </a:p>
          </p:txBody>
        </p:sp>
        <p:pic>
          <p:nvPicPr>
            <p:cNvPr id="1032" name="_x685837520" descr="EMB000029d00117">
              <a:extLst>
                <a:ext uri="{FF2B5EF4-FFF2-40B4-BE49-F238E27FC236}">
                  <a16:creationId xmlns:a16="http://schemas.microsoft.com/office/drawing/2014/main" id="{D29F99B8-9321-424C-8992-9EB7EB558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06970" y="21590272"/>
              <a:ext cx="4690702" cy="1454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6" name="직사각형 14">
              <a:extLst>
                <a:ext uri="{FF2B5EF4-FFF2-40B4-BE49-F238E27FC236}">
                  <a16:creationId xmlns:a16="http://schemas.microsoft.com/office/drawing/2014/main" id="{B593A427-917E-4716-A6CC-61CC0F845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5642" y="21120338"/>
              <a:ext cx="1524298" cy="449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0178" tIns="70089" rIns="140178" bIns="70089">
              <a:spAutoFit/>
            </a:bodyPr>
            <a:lstStyle>
              <a:lvl1pPr marL="700088" indent="-700088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/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1. Case 1</a:t>
              </a:r>
            </a:p>
          </p:txBody>
        </p:sp>
        <p:pic>
          <p:nvPicPr>
            <p:cNvPr id="30" name="_x670652216" descr="EMB000029d00118">
              <a:extLst>
                <a:ext uri="{FF2B5EF4-FFF2-40B4-BE49-F238E27FC236}">
                  <a16:creationId xmlns:a16="http://schemas.microsoft.com/office/drawing/2014/main" id="{A6384FB1-6D5F-4790-AEC7-C7389D1833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06970" y="23555618"/>
              <a:ext cx="4690702" cy="1454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" name="직사각형 14">
              <a:extLst>
                <a:ext uri="{FF2B5EF4-FFF2-40B4-BE49-F238E27FC236}">
                  <a16:creationId xmlns:a16="http://schemas.microsoft.com/office/drawing/2014/main" id="{68951666-E428-4A1E-91A3-ACB222CAD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5642" y="23040662"/>
              <a:ext cx="1524298" cy="449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0178" tIns="70089" rIns="140178" bIns="70089">
              <a:spAutoFit/>
            </a:bodyPr>
            <a:lstStyle>
              <a:lvl1pPr marL="700088" indent="-700088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/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2. Case 4</a:t>
              </a:r>
            </a:p>
          </p:txBody>
        </p:sp>
        <p:sp>
          <p:nvSpPr>
            <p:cNvPr id="190" name="직사각형 14">
              <a:extLst>
                <a:ext uri="{FF2B5EF4-FFF2-40B4-BE49-F238E27FC236}">
                  <a16:creationId xmlns:a16="http://schemas.microsoft.com/office/drawing/2014/main" id="{EB775D47-9F01-4615-9E44-03D1943F0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3901" y="23040662"/>
              <a:ext cx="1524298" cy="449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0178" tIns="70089" rIns="140178" bIns="70089">
              <a:spAutoFit/>
            </a:bodyPr>
            <a:lstStyle>
              <a:lvl1pPr marL="700088" indent="-700088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/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3. Case 7</a:t>
              </a:r>
            </a:p>
          </p:txBody>
        </p:sp>
        <p:pic>
          <p:nvPicPr>
            <p:cNvPr id="1036" name="_x683959232" descr="EMB000029d00119">
              <a:extLst>
                <a:ext uri="{FF2B5EF4-FFF2-40B4-BE49-F238E27FC236}">
                  <a16:creationId xmlns:a16="http://schemas.microsoft.com/office/drawing/2014/main" id="{35953146-FC42-4273-8E9D-4562995C4B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80143" y="23555618"/>
              <a:ext cx="4690701" cy="1452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1" name="TextBox 39">
              <a:extLst>
                <a:ext uri="{FF2B5EF4-FFF2-40B4-BE49-F238E27FC236}">
                  <a16:creationId xmlns:a16="http://schemas.microsoft.com/office/drawing/2014/main" id="{1CF7255D-D9E4-434F-91AE-801AD79592BF}"/>
                </a:ext>
              </a:extLst>
            </p:cNvPr>
            <p:cNvSpPr txBox="1"/>
            <p:nvPr/>
          </p:nvSpPr>
          <p:spPr>
            <a:xfrm>
              <a:off x="10994436" y="25043754"/>
              <a:ext cx="3175320" cy="5507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defTabSz="4525963">
                <a:lnSpc>
                  <a:spcPct val="130000"/>
                </a:lnSpc>
              </a:pPr>
              <a:r>
                <a:rPr kumimoji="0" lang="ko-KR" altLang="en-US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결과비교 </a:t>
              </a:r>
              <a:r>
                <a:rPr kumimoji="0" lang="en-US" altLang="ko-KR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– PSC</a:t>
              </a:r>
              <a:r>
                <a:rPr kumimoji="0" lang="ko-KR" altLang="en-US" sz="2600" spc="-100" dirty="0">
                  <a:solidFill>
                    <a:srgbClr val="0000FF"/>
                  </a:solidFill>
                  <a:latin typeface="HY헤드라인M" pitchFamily="18" charset="-127"/>
                  <a:ea typeface="HY헤드라인M" pitchFamily="18" charset="-127"/>
                </a:rPr>
                <a:t>침목</a:t>
              </a:r>
            </a:p>
          </p:txBody>
        </p:sp>
        <p:pic>
          <p:nvPicPr>
            <p:cNvPr id="1038" name="_x683957648" descr="EMB000029d0011c">
              <a:extLst>
                <a:ext uri="{FF2B5EF4-FFF2-40B4-BE49-F238E27FC236}">
                  <a16:creationId xmlns:a16="http://schemas.microsoft.com/office/drawing/2014/main" id="{B21720E6-4051-4AA9-9474-EB9D647291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712"/>
            <a:stretch/>
          </p:blipFill>
          <p:spPr bwMode="auto">
            <a:xfrm>
              <a:off x="15913695" y="25667982"/>
              <a:ext cx="5281773" cy="10562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2" name="_x683957648" descr="EMB000029d0011c">
              <a:extLst>
                <a:ext uri="{FF2B5EF4-FFF2-40B4-BE49-F238E27FC236}">
                  <a16:creationId xmlns:a16="http://schemas.microsoft.com/office/drawing/2014/main" id="{0D0F1C93-4D60-44F8-A707-92B681DB31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332" b="17474"/>
            <a:stretch/>
          </p:blipFill>
          <p:spPr bwMode="auto">
            <a:xfrm>
              <a:off x="11005880" y="25667983"/>
              <a:ext cx="4892068" cy="1078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5" name="직사각형 14">
              <a:extLst>
                <a:ext uri="{FF2B5EF4-FFF2-40B4-BE49-F238E27FC236}">
                  <a16:creationId xmlns:a16="http://schemas.microsoft.com/office/drawing/2014/main" id="{9985521B-6F20-4BA4-AADC-4FD16471C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7460" y="25132557"/>
              <a:ext cx="7008008" cy="380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tIns="36000" rIns="36000" bIns="36000">
              <a:spAutoFit/>
            </a:bodyPr>
            <a:lstStyle>
              <a:lvl1pPr marL="700088" indent="-700088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/>
              <a:r>
                <a:rPr lang="ko-KR" altLang="en-US" sz="2000" spc="-7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☞ 출처 </a:t>
              </a:r>
              <a:r>
                <a:rPr lang="en-US" altLang="ko-KR" sz="2000" spc="-7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: </a:t>
              </a:r>
              <a:r>
                <a:rPr lang="en-US" altLang="ko-KR" sz="2000" spc="-7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prEN</a:t>
              </a:r>
              <a:r>
                <a:rPr lang="en-US" altLang="ko-KR" sz="2000" spc="-7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 13230-6 (</a:t>
              </a:r>
              <a:r>
                <a:rPr lang="en-US" altLang="ko-KR" sz="2000" spc="-7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P</a:t>
              </a:r>
              <a:r>
                <a:rPr lang="en-US" altLang="ko-KR" sz="2000" spc="-70" baseline="-2500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k</a:t>
              </a:r>
              <a:r>
                <a:rPr lang="en-US" altLang="ko-KR" sz="2000" spc="-7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=102 </a:t>
              </a:r>
              <a:r>
                <a:rPr lang="en-US" altLang="ko-KR" sz="2000" spc="-70" dirty="0" err="1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kN</a:t>
              </a:r>
              <a:r>
                <a:rPr lang="en-US" altLang="ko-KR" sz="2000" spc="-7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, C</a:t>
              </a:r>
              <a:r>
                <a:rPr lang="en-US" altLang="ko-KR" sz="2000" spc="-70" baseline="-25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B</a:t>
              </a:r>
              <a:r>
                <a:rPr lang="en-US" altLang="ko-KR" sz="2000" spc="-7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=0.1 N/mm</a:t>
              </a:r>
              <a:r>
                <a:rPr lang="en-US" altLang="ko-KR" sz="2000" spc="-70" baseline="30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3</a:t>
              </a:r>
              <a:r>
                <a:rPr lang="en-US" altLang="ko-KR" sz="2000" spc="-7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, e=190 mm)</a:t>
              </a:r>
            </a:p>
          </p:txBody>
        </p:sp>
        <p:sp>
          <p:nvSpPr>
            <p:cNvPr id="196" name="직사각형 14">
              <a:extLst>
                <a:ext uri="{FF2B5EF4-FFF2-40B4-BE49-F238E27FC236}">
                  <a16:creationId xmlns:a16="http://schemas.microsoft.com/office/drawing/2014/main" id="{6D9C8F2B-818A-4FED-9BD0-C376BC865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5854" y="25649854"/>
              <a:ext cx="1020242" cy="449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0178" tIns="70089" rIns="140178" bIns="70089">
              <a:spAutoFit/>
            </a:bodyPr>
            <a:lstStyle>
              <a:lvl1pPr marL="700088" indent="-700088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/>
              <a:r>
                <a:rPr lang="en-US" altLang="ko-KR" sz="2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&lt;</a:t>
              </a:r>
              <a:r>
                <a:rPr lang="ko-KR" altLang="en-US" sz="2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응력</a:t>
              </a:r>
              <a:r>
                <a:rPr lang="en-US" altLang="ko-KR" sz="2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&gt;</a:t>
              </a:r>
            </a:p>
          </p:txBody>
        </p:sp>
        <p:sp>
          <p:nvSpPr>
            <p:cNvPr id="197" name="직사각형 14">
              <a:extLst>
                <a:ext uri="{FF2B5EF4-FFF2-40B4-BE49-F238E27FC236}">
                  <a16:creationId xmlns:a16="http://schemas.microsoft.com/office/drawing/2014/main" id="{05892C93-99A8-40B8-9E60-8C57945A2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13695" y="25649854"/>
              <a:ext cx="1020242" cy="449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0178" tIns="70089" rIns="140178" bIns="70089">
              <a:spAutoFit/>
            </a:bodyPr>
            <a:lstStyle>
              <a:lvl1pPr marL="700088" indent="-700088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/>
              <a:r>
                <a:rPr lang="en-US" altLang="ko-KR" sz="2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&lt;</a:t>
              </a:r>
              <a:r>
                <a:rPr lang="ko-KR" altLang="en-US" sz="2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처짐</a:t>
              </a:r>
              <a:r>
                <a:rPr lang="en-US" altLang="ko-KR" sz="2000" dirty="0">
                  <a:solidFill>
                    <a:srgbClr val="0000FF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HY울릉도M"/>
                </a:rPr>
                <a:t>&gt;</a:t>
              </a: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4FF62A9B-0518-4E41-B0BA-CEF695984E28}"/>
              </a:ext>
            </a:extLst>
          </p:cNvPr>
          <p:cNvSpPr txBox="1"/>
          <p:nvPr/>
        </p:nvSpPr>
        <p:spPr>
          <a:xfrm>
            <a:off x="10866197" y="28018337"/>
            <a:ext cx="10518963" cy="2099486"/>
          </a:xfrm>
          <a:prstGeom prst="rect">
            <a:avLst/>
          </a:prstGeom>
          <a:noFill/>
        </p:spPr>
        <p:txBody>
          <a:bodyPr wrap="square" rIns="46800">
            <a:spAutoFit/>
          </a:bodyPr>
          <a:lstStyle/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spc="-50" dirty="0">
                <a:latin typeface="HY헤드라인M" pitchFamily="18" charset="-127"/>
                <a:ea typeface="HY헤드라인M" pitchFamily="18" charset="-127"/>
              </a:rPr>
              <a:t>□ </a:t>
            </a:r>
            <a:r>
              <a:rPr kumimoji="0" lang="ko-KR" altLang="en-US" sz="2600" spc="-50" dirty="0" err="1">
                <a:latin typeface="HY헤드라인M" pitchFamily="18" charset="-127"/>
                <a:ea typeface="HY헤드라인M" pitchFamily="18" charset="-127"/>
              </a:rPr>
              <a:t>목침목</a:t>
            </a:r>
            <a:r>
              <a:rPr kumimoji="0" lang="ko-KR" altLang="en-US" sz="2600" spc="-50" dirty="0">
                <a:latin typeface="HY헤드라인M" pitchFamily="18" charset="-127"/>
                <a:ea typeface="HY헤드라인M" pitchFamily="18" charset="-127"/>
              </a:rPr>
              <a:t> 단점을 보완할 수 있는 플라스틱 침목 개발 필요한 시점이며</a:t>
            </a:r>
            <a:r>
              <a:rPr kumimoji="0" lang="en-US" altLang="ko-KR" sz="2600" spc="-50" dirty="0">
                <a:latin typeface="HY헤드라인M" pitchFamily="18" charset="-127"/>
                <a:ea typeface="HY헤드라인M" pitchFamily="18" charset="-127"/>
              </a:rPr>
              <a:t>,</a:t>
            </a: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spc="-50" dirty="0">
                <a:latin typeface="HY헤드라인M" pitchFamily="18" charset="-127"/>
                <a:ea typeface="HY헤드라인M" pitchFamily="18" charset="-127"/>
              </a:rPr>
              <a:t>    </a:t>
            </a:r>
            <a:r>
              <a:rPr kumimoji="0" lang="ko-KR" altLang="en-US" sz="2600" spc="-50" dirty="0">
                <a:latin typeface="HY헤드라인M" pitchFamily="18" charset="-127"/>
                <a:ea typeface="HY헤드라인M" pitchFamily="18" charset="-127"/>
              </a:rPr>
              <a:t>유럽 및 북미를 중심으로 플라스틱 침목 개발 활발히 이루어짐</a:t>
            </a:r>
            <a:endParaRPr kumimoji="0" lang="en-US" altLang="ko-KR" sz="2600" spc="-50" dirty="0">
              <a:latin typeface="HY헤드라인M" pitchFamily="18" charset="-127"/>
              <a:ea typeface="HY헤드라인M" pitchFamily="18" charset="-127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spc="-50" dirty="0">
                <a:latin typeface="HY헤드라인M" pitchFamily="18" charset="-127"/>
                <a:ea typeface="HY헤드라인M" pitchFamily="18" charset="-127"/>
              </a:rPr>
              <a:t>□ </a:t>
            </a:r>
            <a:r>
              <a:rPr kumimoji="0" lang="ko-KR" altLang="en-US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휨 강성</a:t>
            </a:r>
            <a:r>
              <a:rPr kumimoji="0" lang="en-US" altLang="ko-KR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ko-KR" altLang="en-US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증가 및 침목 높이 증가 시 처짐 감소 경향</a:t>
            </a:r>
            <a:r>
              <a:rPr kumimoji="0" lang="ko-KR" altLang="en-US" sz="2600" spc="-50" dirty="0">
                <a:latin typeface="HY헤드라인M" pitchFamily="18" charset="-127"/>
                <a:ea typeface="HY헤드라인M" pitchFamily="18" charset="-127"/>
              </a:rPr>
              <a:t>을 보임</a:t>
            </a:r>
            <a:endParaRPr kumimoji="0" lang="en-US" altLang="ko-KR" sz="2600" spc="-50" dirty="0">
              <a:latin typeface="HY헤드라인M" pitchFamily="18" charset="-127"/>
              <a:ea typeface="HY헤드라인M" pitchFamily="18" charset="-127"/>
            </a:endParaRPr>
          </a:p>
          <a:p>
            <a:pPr defTabSz="4525963">
              <a:lnSpc>
                <a:spcPct val="130000"/>
              </a:lnSpc>
              <a:defRPr/>
            </a:pPr>
            <a:r>
              <a:rPr kumimoji="0" lang="en-US" altLang="ko-KR" sz="2600" spc="-50" dirty="0">
                <a:latin typeface="HY헤드라인M" pitchFamily="18" charset="-127"/>
                <a:ea typeface="HY헤드라인M" pitchFamily="18" charset="-127"/>
              </a:rPr>
              <a:t>□ </a:t>
            </a:r>
            <a:r>
              <a:rPr kumimoji="0" lang="en-US" altLang="ko-KR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A Type </a:t>
            </a:r>
            <a:r>
              <a:rPr kumimoji="0" lang="ko-KR" altLang="en-US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물성</a:t>
            </a:r>
            <a:r>
              <a:rPr kumimoji="0" lang="ko-KR" altLang="en-US" sz="2600" spc="-50" dirty="0">
                <a:latin typeface="HY헤드라인M" pitchFamily="18" charset="-127"/>
                <a:ea typeface="HY헤드라인M" pitchFamily="18" charset="-127"/>
              </a:rPr>
              <a:t>에 대한 </a:t>
            </a:r>
            <a:r>
              <a:rPr kumimoji="0" lang="ko-KR" altLang="en-US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안전율</a:t>
            </a:r>
            <a:r>
              <a:rPr kumimoji="0" lang="ko-KR" altLang="en-US" sz="2600" spc="-50" dirty="0">
                <a:latin typeface="HY헤드라인M" pitchFamily="18" charset="-127"/>
                <a:ea typeface="HY헤드라인M" pitchFamily="18" charset="-127"/>
              </a:rPr>
              <a:t>이 </a:t>
            </a:r>
            <a:r>
              <a:rPr kumimoji="0" lang="en-US" altLang="ko-KR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B </a:t>
            </a:r>
            <a:r>
              <a:rPr kumimoji="0" lang="ko-KR" altLang="en-US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및 </a:t>
            </a:r>
            <a:r>
              <a:rPr kumimoji="0" lang="en-US" altLang="ko-KR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C Type </a:t>
            </a:r>
            <a:r>
              <a:rPr kumimoji="0" lang="ko-KR" altLang="en-US" sz="2600" spc="-50" dirty="0">
                <a:solidFill>
                  <a:srgbClr val="0000FF"/>
                </a:solidFill>
                <a:latin typeface="HY헤드라인M" pitchFamily="18" charset="-127"/>
                <a:ea typeface="HY헤드라인M" pitchFamily="18" charset="-127"/>
              </a:rPr>
              <a:t>보다 높음</a:t>
            </a:r>
            <a:endParaRPr kumimoji="0" lang="en-US" altLang="ko-KR" sz="2600" spc="-50" dirty="0">
              <a:solidFill>
                <a:srgbClr val="0000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모자이크">
  <a:themeElements>
    <a:clrScheme name="모자이크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모자이크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112963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4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112963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4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3455</TotalTime>
  <Words>564</Words>
  <Application>Microsoft Office PowerPoint</Application>
  <PresentationFormat>사용자 지정</PresentationFormat>
  <Paragraphs>115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HY견고딕</vt:lpstr>
      <vt:lpstr>HY울릉도M</vt:lpstr>
      <vt:lpstr>HY헤드라인M</vt:lpstr>
      <vt:lpstr>굴림</vt:lpstr>
      <vt:lpstr>나눔고딕 ExtraBold</vt:lpstr>
      <vt:lpstr>맑은 고딕</vt:lpstr>
      <vt:lpstr>Arial</vt:lpstr>
      <vt:lpstr>Tahoma</vt:lpstr>
      <vt:lpstr>Times New Roman</vt:lpstr>
      <vt:lpstr>Wingdings</vt:lpstr>
      <vt:lpstr>모자이크</vt:lpstr>
      <vt:lpstr>플라스틱 침목이 부설된 자갈궤도의 열차하중 재하 시 거동평가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SmartServer User</dc:creator>
  <cp:lastModifiedBy>JunHyun</cp:lastModifiedBy>
  <cp:revision>225</cp:revision>
  <cp:lastPrinted>2019-11-12T06:50:33Z</cp:lastPrinted>
  <dcterms:created xsi:type="dcterms:W3CDTF">2008-06-10T09:30:54Z</dcterms:created>
  <dcterms:modified xsi:type="dcterms:W3CDTF">2019-11-12T07:16:21Z</dcterms:modified>
</cp:coreProperties>
</file>