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1383625" cy="30275213"/>
  <p:notesSz cx="20929600" cy="298196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956" kern="1200">
        <a:solidFill>
          <a:schemeClr val="tx1"/>
        </a:solidFill>
        <a:latin typeface="굴림"/>
        <a:ea typeface="굴림"/>
        <a:cs typeface="+mn-cs"/>
      </a:defRPr>
    </a:lvl1pPr>
    <a:lvl2pPr marL="298140" algn="l" rtl="0" fontAlgn="base" latinLnBrk="1">
      <a:spcBef>
        <a:spcPct val="0"/>
      </a:spcBef>
      <a:spcAft>
        <a:spcPct val="0"/>
      </a:spcAft>
      <a:defRPr kumimoji="1" sz="1956" kern="1200">
        <a:solidFill>
          <a:schemeClr val="tx1"/>
        </a:solidFill>
        <a:latin typeface="굴림"/>
        <a:ea typeface="굴림"/>
        <a:cs typeface="+mn-cs"/>
      </a:defRPr>
    </a:lvl2pPr>
    <a:lvl3pPr marL="596280" algn="l" rtl="0" fontAlgn="base" latinLnBrk="1">
      <a:spcBef>
        <a:spcPct val="0"/>
      </a:spcBef>
      <a:spcAft>
        <a:spcPct val="0"/>
      </a:spcAft>
      <a:defRPr kumimoji="1" sz="1956" kern="1200">
        <a:solidFill>
          <a:schemeClr val="tx1"/>
        </a:solidFill>
        <a:latin typeface="굴림"/>
        <a:ea typeface="굴림"/>
        <a:cs typeface="+mn-cs"/>
      </a:defRPr>
    </a:lvl3pPr>
    <a:lvl4pPr marL="894420" algn="l" rtl="0" fontAlgn="base" latinLnBrk="1">
      <a:spcBef>
        <a:spcPct val="0"/>
      </a:spcBef>
      <a:spcAft>
        <a:spcPct val="0"/>
      </a:spcAft>
      <a:defRPr kumimoji="1" sz="1956" kern="1200">
        <a:solidFill>
          <a:schemeClr val="tx1"/>
        </a:solidFill>
        <a:latin typeface="굴림"/>
        <a:ea typeface="굴림"/>
        <a:cs typeface="+mn-cs"/>
      </a:defRPr>
    </a:lvl4pPr>
    <a:lvl5pPr marL="1192560" algn="l" rtl="0" fontAlgn="base" latinLnBrk="1">
      <a:spcBef>
        <a:spcPct val="0"/>
      </a:spcBef>
      <a:spcAft>
        <a:spcPct val="0"/>
      </a:spcAft>
      <a:defRPr kumimoji="1" sz="1956" kern="1200">
        <a:solidFill>
          <a:schemeClr val="tx1"/>
        </a:solidFill>
        <a:latin typeface="굴림"/>
        <a:ea typeface="굴림"/>
        <a:cs typeface="+mn-cs"/>
      </a:defRPr>
    </a:lvl5pPr>
    <a:lvl6pPr marL="1490701" algn="l" defTabSz="596280" rtl="0" eaLnBrk="1" latinLnBrk="1" hangingPunct="1">
      <a:defRPr kumimoji="1" sz="1956" kern="1200">
        <a:solidFill>
          <a:schemeClr val="tx1"/>
        </a:solidFill>
        <a:latin typeface="굴림"/>
        <a:ea typeface="굴림"/>
        <a:cs typeface="+mn-cs"/>
      </a:defRPr>
    </a:lvl6pPr>
    <a:lvl7pPr marL="1788841" algn="l" defTabSz="596280" rtl="0" eaLnBrk="1" latinLnBrk="1" hangingPunct="1">
      <a:defRPr kumimoji="1" sz="1956" kern="1200">
        <a:solidFill>
          <a:schemeClr val="tx1"/>
        </a:solidFill>
        <a:latin typeface="굴림"/>
        <a:ea typeface="굴림"/>
        <a:cs typeface="+mn-cs"/>
      </a:defRPr>
    </a:lvl7pPr>
    <a:lvl8pPr marL="2086981" algn="l" defTabSz="596280" rtl="0" eaLnBrk="1" latinLnBrk="1" hangingPunct="1">
      <a:defRPr kumimoji="1" sz="1956" kern="1200">
        <a:solidFill>
          <a:schemeClr val="tx1"/>
        </a:solidFill>
        <a:latin typeface="굴림"/>
        <a:ea typeface="굴림"/>
        <a:cs typeface="+mn-cs"/>
      </a:defRPr>
    </a:lvl8pPr>
    <a:lvl9pPr marL="2385121" algn="l" defTabSz="596280" rtl="0" eaLnBrk="1" latinLnBrk="1" hangingPunct="1">
      <a:defRPr kumimoji="1" sz="1956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>
          <p15:clr>
            <a:srgbClr val="A4A3A4"/>
          </p15:clr>
        </p15:guide>
        <p15:guide id="2" pos="67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40" autoAdjust="0"/>
    <p:restoredTop sz="96567" autoAdjust="0"/>
  </p:normalViewPr>
  <p:slideViewPr>
    <p:cSldViewPr>
      <p:cViewPr varScale="1">
        <p:scale>
          <a:sx n="25" d="100"/>
          <a:sy n="25" d="100"/>
        </p:scale>
        <p:origin x="3654" y="108"/>
      </p:cViewPr>
      <p:guideLst>
        <p:guide orient="horz" pos="9536"/>
        <p:guide pos="6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2" d="100"/>
          <a:sy n="82" d="100"/>
        </p:scale>
        <p:origin x="18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2" y="4"/>
            <a:ext cx="9067334" cy="14876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279815" tIns="139909" rIns="279815" bIns="139909" anchor="t" anchorCtr="0">
            <a:prstTxWarp prst="textNoShape">
              <a:avLst/>
            </a:prstTxWarp>
          </a:bodyPr>
          <a:lstStyle>
            <a:lvl1pPr defTabSz="2797209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11857282" y="4"/>
            <a:ext cx="9067334" cy="14876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279815" tIns="139909" rIns="279815" bIns="139909" anchor="t" anchorCtr="0">
            <a:prstTxWarp prst="textNoShape">
              <a:avLst/>
            </a:prstTxWarp>
          </a:bodyPr>
          <a:lstStyle>
            <a:lvl1pPr algn="r" defTabSz="2797209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2" y="28317658"/>
            <a:ext cx="9067334" cy="149717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279815" tIns="139909" rIns="279815" bIns="139909" anchor="b" anchorCtr="0">
            <a:prstTxWarp prst="textNoShape">
              <a:avLst/>
            </a:prstTxWarp>
          </a:bodyPr>
          <a:lstStyle>
            <a:lvl1pPr defTabSz="2797209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11857282" y="28317658"/>
            <a:ext cx="9067334" cy="149717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279815" tIns="139909" rIns="279815" bIns="139909" anchor="b" anchorCtr="0">
            <a:prstTxWarp prst="textNoShape">
              <a:avLst/>
            </a:prstTxWarp>
          </a:bodyPr>
          <a:lstStyle>
            <a:lvl1pPr algn="r" defTabSz="2797209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fld id="{5EC34F8D-9040-4906-B039-E33F047395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9067334" cy="1487642"/>
          </a:xfrm>
          <a:prstGeom prst="rect">
            <a:avLst/>
          </a:prstGeom>
        </p:spPr>
        <p:txBody>
          <a:bodyPr vert="horz" lIns="277452" tIns="138726" rIns="277452" bIns="138726"/>
          <a:lstStyle>
            <a:lvl1pPr algn="l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1857282" y="4"/>
            <a:ext cx="9067334" cy="1487642"/>
          </a:xfrm>
          <a:prstGeom prst="rect">
            <a:avLst/>
          </a:prstGeom>
        </p:spPr>
        <p:txBody>
          <a:bodyPr vert="horz" lIns="277452" tIns="138726" rIns="277452" bIns="138726"/>
          <a:lstStyle>
            <a:lvl1pPr algn="r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fld id="{1FBE519A-E4AA-4DF3-86EC-F9BA380473AD}" type="datetime1">
              <a:rPr lang="ko-KR" altLang="en-US"/>
              <a:pPr>
                <a:defRPr/>
              </a:pPr>
              <a:t>2019-11-12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515100" y="2238375"/>
            <a:ext cx="7899400" cy="11183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77452" tIns="138726" rIns="277452" bIns="138726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2092465" y="14165986"/>
            <a:ext cx="16744676" cy="13417390"/>
          </a:xfrm>
          <a:prstGeom prst="rect">
            <a:avLst/>
          </a:prstGeom>
        </p:spPr>
        <p:txBody>
          <a:bodyPr vert="horz" lIns="277452" tIns="138726" rIns="277452" bIns="138726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28327192"/>
            <a:ext cx="9067334" cy="1487642"/>
          </a:xfrm>
          <a:prstGeom prst="rect">
            <a:avLst/>
          </a:prstGeom>
        </p:spPr>
        <p:txBody>
          <a:bodyPr vert="horz" lIns="277452" tIns="138726" rIns="277452" bIns="138726" anchor="b"/>
          <a:lstStyle>
            <a:lvl1pPr algn="l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1857282" y="28327192"/>
            <a:ext cx="9067334" cy="1487642"/>
          </a:xfrm>
          <a:prstGeom prst="rect">
            <a:avLst/>
          </a:prstGeom>
        </p:spPr>
        <p:txBody>
          <a:bodyPr vert="horz" lIns="277452" tIns="138726" rIns="277452" bIns="138726" anchor="b"/>
          <a:lstStyle>
            <a:lvl1pPr algn="r">
              <a:defRPr sz="3500">
                <a:latin typeface="굴림"/>
                <a:ea typeface="굴림"/>
              </a:defRPr>
            </a:lvl1pPr>
          </a:lstStyle>
          <a:p>
            <a:pPr>
              <a:defRPr/>
            </a:pPr>
            <a:fld id="{E2A153EF-556E-4AAA-8986-B5093625CB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783" kern="1200">
        <a:solidFill>
          <a:schemeClr val="tx1"/>
        </a:solidFill>
        <a:latin typeface="+mn-lt"/>
        <a:ea typeface="+mn-ea"/>
        <a:cs typeface="+mn-cs"/>
      </a:defRPr>
    </a:lvl1pPr>
    <a:lvl2pPr marL="298140" algn="l" rtl="0" eaLnBrk="0" fontAlgn="base" latinLnBrk="1" hangingPunct="0">
      <a:spcBef>
        <a:spcPct val="30000"/>
      </a:spcBef>
      <a:spcAft>
        <a:spcPct val="0"/>
      </a:spcAft>
      <a:defRPr sz="783" kern="1200">
        <a:solidFill>
          <a:schemeClr val="tx1"/>
        </a:solidFill>
        <a:latin typeface="+mn-lt"/>
        <a:ea typeface="+mn-ea"/>
        <a:cs typeface="+mn-cs"/>
      </a:defRPr>
    </a:lvl2pPr>
    <a:lvl3pPr marL="596280" algn="l" rtl="0" eaLnBrk="0" fontAlgn="base" latinLnBrk="1" hangingPunct="0">
      <a:spcBef>
        <a:spcPct val="30000"/>
      </a:spcBef>
      <a:spcAft>
        <a:spcPct val="0"/>
      </a:spcAft>
      <a:defRPr sz="783" kern="1200">
        <a:solidFill>
          <a:schemeClr val="tx1"/>
        </a:solidFill>
        <a:latin typeface="+mn-lt"/>
        <a:ea typeface="+mn-ea"/>
        <a:cs typeface="+mn-cs"/>
      </a:defRPr>
    </a:lvl3pPr>
    <a:lvl4pPr marL="894420" algn="l" rtl="0" eaLnBrk="0" fontAlgn="base" latinLnBrk="1" hangingPunct="0">
      <a:spcBef>
        <a:spcPct val="30000"/>
      </a:spcBef>
      <a:spcAft>
        <a:spcPct val="0"/>
      </a:spcAft>
      <a:defRPr sz="783" kern="1200">
        <a:solidFill>
          <a:schemeClr val="tx1"/>
        </a:solidFill>
        <a:latin typeface="+mn-lt"/>
        <a:ea typeface="+mn-ea"/>
        <a:cs typeface="+mn-cs"/>
      </a:defRPr>
    </a:lvl4pPr>
    <a:lvl5pPr marL="1192560" algn="l" rtl="0" eaLnBrk="0" fontAlgn="base" latinLnBrk="1" hangingPunct="0">
      <a:spcBef>
        <a:spcPct val="30000"/>
      </a:spcBef>
      <a:spcAft>
        <a:spcPct val="0"/>
      </a:spcAft>
      <a:defRPr sz="783" kern="1200">
        <a:solidFill>
          <a:schemeClr val="tx1"/>
        </a:solidFill>
        <a:latin typeface="+mn-lt"/>
        <a:ea typeface="+mn-ea"/>
        <a:cs typeface="+mn-cs"/>
      </a:defRPr>
    </a:lvl5pPr>
    <a:lvl6pPr marL="1490701" algn="l" defTabSz="596280" rtl="0" eaLnBrk="1" latinLnBrk="1" hangingPunct="1">
      <a:defRPr sz="783" kern="1200">
        <a:solidFill>
          <a:schemeClr val="tx1"/>
        </a:solidFill>
        <a:latin typeface="+mn-lt"/>
        <a:ea typeface="+mn-ea"/>
        <a:cs typeface="+mn-cs"/>
      </a:defRPr>
    </a:lvl6pPr>
    <a:lvl7pPr marL="1788841" algn="l" defTabSz="596280" rtl="0" eaLnBrk="1" latinLnBrk="1" hangingPunct="1">
      <a:defRPr sz="783" kern="1200">
        <a:solidFill>
          <a:schemeClr val="tx1"/>
        </a:solidFill>
        <a:latin typeface="+mn-lt"/>
        <a:ea typeface="+mn-ea"/>
        <a:cs typeface="+mn-cs"/>
      </a:defRPr>
    </a:lvl7pPr>
    <a:lvl8pPr marL="2086981" algn="l" defTabSz="596280" rtl="0" eaLnBrk="1" latinLnBrk="1" hangingPunct="1">
      <a:defRPr sz="783" kern="1200">
        <a:solidFill>
          <a:schemeClr val="tx1"/>
        </a:solidFill>
        <a:latin typeface="+mn-lt"/>
        <a:ea typeface="+mn-ea"/>
        <a:cs typeface="+mn-cs"/>
      </a:defRPr>
    </a:lvl8pPr>
    <a:lvl9pPr marL="2385121" algn="l" defTabSz="596280" rtl="0" eaLnBrk="1" latinLnBrk="1" hangingPunct="1">
      <a:defRPr sz="7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515100" y="2238375"/>
            <a:ext cx="7899400" cy="11183938"/>
          </a:xfrm>
          <a:noFill/>
          <a:ln>
            <a:solidFill>
              <a:srgbClr val="000000"/>
            </a:solidFill>
            <a:miter/>
          </a:ln>
        </p:spPr>
      </p:sp>
      <p:sp>
        <p:nvSpPr>
          <p:cNvPr id="4099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ko-KR" altLang="en-US"/>
          </a:p>
        </p:txBody>
      </p:sp>
      <p:sp>
        <p:nvSpPr>
          <p:cNvPr id="410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>
            <a:miter/>
          </a:ln>
        </p:spPr>
        <p:txBody>
          <a:bodyPr wrap="square" anchorCtr="0">
            <a:prstTxWarp prst="textNoShape">
              <a:avLst/>
            </a:prstTxWarp>
          </a:bodyPr>
          <a:lstStyle/>
          <a:p>
            <a:pPr lvl="0">
              <a:defRPr/>
            </a:pPr>
            <a:fld id="{29ABEDBE-CD08-470C-9845-87A568E382B4}" type="slidenum">
              <a:rPr lang="en-US" altLang="en-US">
                <a:latin typeface="굴림"/>
                <a:ea typeface="굴림"/>
              </a:rPr>
              <a:pPr lvl="0">
                <a:defRPr/>
              </a:pPr>
              <a:t>1</a:t>
            </a:fld>
            <a:endParaRPr lang="en-US" altLang="en-US">
              <a:latin typeface="굴림"/>
              <a:ea typeface="굴림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8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72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1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38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49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7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7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400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rgbClr val="FF9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1"/>
            <a:ext cx="21373732" cy="302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7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60E81-95BB-4097-8528-E1938ECB2555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FCB25-627F-4CBA-B202-A220455B2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49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Picture 390" descr="yellow arrow"/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248" y="12172455"/>
            <a:ext cx="1215612" cy="325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16" name="Rectangle 68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18" name="Rectangle 70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22" name="Rectangle 7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28" name="Rectangle 80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1931" y="-26486"/>
            <a:ext cx="119512" cy="2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 bwMode="auto">
          <a:xfrm>
            <a:off x="460641" y="736006"/>
            <a:ext cx="20428592" cy="1544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defTabSz="452755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52755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defTabSz="452755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defTabSz="452755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defTabSz="452755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defTabSz="4527550" rtl="0" fontAlgn="base" latinLnBrk="1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defTabSz="4527550" rtl="0" fontAlgn="base" latinLnBrk="1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defTabSz="4527550" rtl="0" fontAlgn="base" latinLnBrk="1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defTabSz="4527550" rtl="0" fontAlgn="base" latinLnBrk="1">
              <a:spcBef>
                <a:spcPct val="0"/>
              </a:spcBef>
              <a:spcAft>
                <a:spcPct val="0"/>
              </a:spcAft>
              <a:defRPr kumimoji="1" sz="218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en-US" sz="4657" kern="0" dirty="0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분당선 광역철도 </a:t>
            </a:r>
            <a:r>
              <a:rPr lang="ko-KR" altLang="en-US" sz="4657" kern="0" dirty="0" err="1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급행화</a:t>
            </a:r>
            <a:r>
              <a:rPr lang="ko-KR" altLang="en-US" sz="4657" kern="0" dirty="0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 사업 타당성 검토 사례</a:t>
            </a:r>
            <a:endParaRPr lang="en-US" altLang="ko-KR" sz="4657" kern="0" dirty="0" smtClean="0">
              <a:solidFill>
                <a:schemeClr val="bg1"/>
              </a:solidFill>
              <a:latin typeface="Arial" panose="020B0604020202020204" pitchFamily="34" charset="0"/>
              <a:ea typeface="HY견고딕" panose="02030600000101010101" pitchFamily="18" charset="-127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ko-KR" sz="3105" kern="0" dirty="0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Feasibility Study of Operating Express Train on Commuter Railroad ‘</a:t>
            </a:r>
            <a:r>
              <a:rPr lang="en-US" altLang="ko-KR" sz="3105" kern="0" dirty="0" err="1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Bundang</a:t>
            </a:r>
            <a:r>
              <a:rPr lang="en-US" altLang="ko-KR" sz="3105" kern="0" dirty="0" smtClean="0">
                <a:solidFill>
                  <a:schemeClr val="bg1"/>
                </a:solidFill>
                <a:latin typeface="Arial" panose="020B0604020202020204" pitchFamily="34" charset="0"/>
                <a:ea typeface="HY견고딕" panose="02030600000101010101" pitchFamily="18" charset="-127"/>
              </a:rPr>
              <a:t> Line’</a:t>
            </a:r>
          </a:p>
        </p:txBody>
      </p:sp>
      <p:sp>
        <p:nvSpPr>
          <p:cNvPr id="83" name="Text Box 7"/>
          <p:cNvSpPr txBox="1">
            <a:spLocks noChangeArrowheads="1"/>
          </p:cNvSpPr>
          <p:nvPr/>
        </p:nvSpPr>
        <p:spPr bwMode="auto">
          <a:xfrm>
            <a:off x="4023578" y="3185422"/>
            <a:ext cx="13414577" cy="10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617" tIns="99808" rIns="199617" bIns="99808">
            <a:spAutoFit/>
          </a:bodyPr>
          <a:lstStyle>
            <a:lvl1pPr defTabSz="30861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30861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30861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30861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30861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ko-KR" altLang="en-US" sz="2911" dirty="0" smtClean="0"/>
              <a:t>오동규</a:t>
            </a:r>
            <a:r>
              <a:rPr lang="en-US" altLang="ko-KR" sz="2911" baseline="30000" dirty="0" smtClean="0"/>
              <a:t>1)</a:t>
            </a:r>
            <a:r>
              <a:rPr lang="en-US" altLang="ko-KR" sz="2911" b="1" dirty="0"/>
              <a:t> </a:t>
            </a:r>
            <a:r>
              <a:rPr lang="en-US" altLang="ko-KR" sz="2911" b="1" dirty="0" smtClean="0"/>
              <a:t>, </a:t>
            </a:r>
            <a:r>
              <a:rPr lang="ko-KR" altLang="en-US" sz="2911" dirty="0" err="1" smtClean="0"/>
              <a:t>오석문</a:t>
            </a:r>
            <a:r>
              <a:rPr lang="en-US" altLang="ko-KR" sz="2911" baseline="30000" dirty="0" smtClean="0"/>
              <a:t>2) </a:t>
            </a:r>
            <a:r>
              <a:rPr lang="en-US" altLang="ko-KR" sz="2911" dirty="0" smtClean="0"/>
              <a:t>, </a:t>
            </a:r>
            <a:r>
              <a:rPr lang="ko-KR" altLang="en-US" sz="2911" dirty="0" err="1" smtClean="0"/>
              <a:t>김두천</a:t>
            </a:r>
            <a:r>
              <a:rPr lang="en-US" altLang="ko-KR" sz="2911" baseline="30000" dirty="0" smtClean="0"/>
              <a:t>3)</a:t>
            </a:r>
            <a:endParaRPr lang="en-US" altLang="ko-KR" sz="2911" baseline="30000" dirty="0"/>
          </a:p>
          <a:p>
            <a:pPr algn="ctr" eaLnBrk="1" hangingPunct="1">
              <a:lnSpc>
                <a:spcPct val="120000"/>
              </a:lnSpc>
            </a:pPr>
            <a:endParaRPr lang="en-US" altLang="ko-KR" sz="2911" baseline="30000" dirty="0"/>
          </a:p>
        </p:txBody>
      </p:sp>
      <p:sp>
        <p:nvSpPr>
          <p:cNvPr id="86" name="Text Box 1249"/>
          <p:cNvSpPr txBox="1">
            <a:spLocks noChangeArrowheads="1"/>
          </p:cNvSpPr>
          <p:nvPr/>
        </p:nvSpPr>
        <p:spPr bwMode="auto">
          <a:xfrm>
            <a:off x="1836575" y="3885833"/>
            <a:ext cx="17788583" cy="45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328" dirty="0">
                <a:latin typeface="Arial" panose="020B0604020202020204" pitchFamily="34" charset="0"/>
                <a:ea typeface="HY견고딕" panose="02030600000101010101" pitchFamily="18" charset="-127"/>
              </a:rPr>
              <a:t>1) </a:t>
            </a:r>
            <a:r>
              <a:rPr lang="ko-KR" altLang="en-US" sz="2328" dirty="0">
                <a:latin typeface="Arial" panose="020B0604020202020204" pitchFamily="34" charset="0"/>
                <a:ea typeface="HY견고딕" panose="02030600000101010101" pitchFamily="18" charset="-127"/>
              </a:rPr>
              <a:t>한국철도기술연구원 </a:t>
            </a:r>
            <a:r>
              <a:rPr lang="ko-KR" altLang="en-US" sz="2328" dirty="0" smtClean="0">
                <a:latin typeface="Arial" panose="020B0604020202020204" pitchFamily="34" charset="0"/>
                <a:ea typeface="HY견고딕" panose="02030600000101010101" pitchFamily="18" charset="-127"/>
              </a:rPr>
              <a:t>북방철도연구센터    </a:t>
            </a:r>
            <a:r>
              <a:rPr lang="en-US" altLang="ko-KR" sz="2328" dirty="0" smtClean="0">
                <a:latin typeface="Arial" panose="020B0604020202020204" pitchFamily="34" charset="0"/>
                <a:ea typeface="HY견고딕" panose="02030600000101010101" pitchFamily="18" charset="-127"/>
              </a:rPr>
              <a:t>2) </a:t>
            </a:r>
            <a:r>
              <a:rPr lang="ko-KR" altLang="en-US" sz="2328" dirty="0" smtClean="0">
                <a:latin typeface="Arial" panose="020B0604020202020204" pitchFamily="34" charset="0"/>
                <a:ea typeface="HY견고딕" panose="02030600000101010101" pitchFamily="18" charset="-127"/>
              </a:rPr>
              <a:t>한국철도기술연구원 교통체계연구팀    </a:t>
            </a:r>
            <a:r>
              <a:rPr lang="en-US" altLang="ko-KR" sz="2328" dirty="0" smtClean="0">
                <a:latin typeface="Arial" panose="020B0604020202020204" pitchFamily="34" charset="0"/>
                <a:ea typeface="HY견고딕" panose="02030600000101010101" pitchFamily="18" charset="-127"/>
              </a:rPr>
              <a:t>3) </a:t>
            </a:r>
            <a:r>
              <a:rPr lang="ko-KR" altLang="en-US" sz="2328" dirty="0" smtClean="0">
                <a:latin typeface="Arial" panose="020B0604020202020204" pitchFamily="34" charset="0"/>
                <a:ea typeface="HY견고딕" panose="02030600000101010101" pitchFamily="18" charset="-127"/>
              </a:rPr>
              <a:t>㈜</a:t>
            </a:r>
            <a:r>
              <a:rPr lang="ko-KR" altLang="en-US" sz="2328" dirty="0" err="1" smtClean="0">
                <a:latin typeface="Arial" panose="020B0604020202020204" pitchFamily="34" charset="0"/>
                <a:ea typeface="HY견고딕" panose="02030600000101010101" pitchFamily="18" charset="-127"/>
              </a:rPr>
              <a:t>일신이앤씨</a:t>
            </a:r>
            <a:endParaRPr lang="ko-KR" altLang="en-US" sz="2328" dirty="0">
              <a:latin typeface="Arial" panose="020B0604020202020204" pitchFamily="34" charset="0"/>
              <a:ea typeface="HY견고딕" panose="02030600000101010101" pitchFamily="18" charset="-127"/>
            </a:endParaRPr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auto">
          <a:xfrm>
            <a:off x="146101" y="4432253"/>
            <a:ext cx="16443620" cy="885132"/>
          </a:xfrm>
          <a:prstGeom prst="roundRect">
            <a:avLst>
              <a:gd name="adj" fmla="val 4949"/>
            </a:avLst>
          </a:prstGeom>
          <a:solidFill>
            <a:srgbClr val="2182AC"/>
          </a:solidFill>
          <a:ln>
            <a:noFill/>
          </a:ln>
        </p:spPr>
        <p:txBody>
          <a:bodyPr wrap="none" anchor="ctr"/>
          <a:lstStyle>
            <a:lvl1pPr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557" b="1" dirty="0">
                <a:solidFill>
                  <a:schemeClr val="bg1"/>
                </a:solidFill>
              </a:rPr>
              <a:t>Background and Objective of Research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249126" y="5538556"/>
            <a:ext cx="12305796" cy="1830245"/>
            <a:chOff x="897315" y="10027446"/>
            <a:chExt cx="17220796" cy="2829576"/>
          </a:xfrm>
        </p:grpSpPr>
        <p:pic>
          <p:nvPicPr>
            <p:cNvPr id="99" name="Picture 116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15" y="10332825"/>
              <a:ext cx="434976" cy="412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" name="Text Box 117"/>
            <p:cNvSpPr txBox="1">
              <a:spLocks noChangeArrowheads="1"/>
            </p:cNvSpPr>
            <p:nvPr/>
          </p:nvSpPr>
          <p:spPr bwMode="auto">
            <a:xfrm>
              <a:off x="1451248" y="10027446"/>
              <a:ext cx="16666863" cy="282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>
                <a:lnSpc>
                  <a:spcPts val="4300"/>
                </a:lnSpc>
                <a:spcBef>
                  <a:spcPct val="10000"/>
                </a:spcBef>
              </a:pP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분당선 광역전철</a:t>
              </a:r>
              <a:r>
                <a:rPr lang="en-US" altLang="ko-KR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(</a:t>
              </a: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왕십리</a:t>
              </a:r>
              <a:r>
                <a:rPr lang="en-US" altLang="ko-KR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~</a:t>
              </a: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수원</a:t>
              </a:r>
              <a:r>
                <a:rPr lang="en-US" altLang="ko-KR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)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 현황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: </a:t>
              </a:r>
            </a:p>
            <a:p>
              <a:pPr marL="457200" indent="-457200" eaLnBrk="1" hangingPunct="1">
                <a:lnSpc>
                  <a:spcPts val="4300"/>
                </a:lnSpc>
                <a:spcBef>
                  <a:spcPct val="10000"/>
                </a:spcBef>
                <a:tabLst>
                  <a:tab pos="628650" algn="l"/>
                </a:tabLst>
              </a:pPr>
              <a:r>
                <a:rPr lang="en-US" altLang="ko-KR" sz="2717" dirty="0">
                  <a:latin typeface="HY견고딕" panose="02030600000101010101" pitchFamily="18" charset="-127"/>
                </a:rPr>
                <a:t>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-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 </a:t>
              </a:r>
              <a:r>
                <a:rPr lang="ko-KR" altLang="en-US" sz="2717" dirty="0" err="1" smtClean="0">
                  <a:latin typeface="HY견고딕" panose="02030600000101010101" pitchFamily="18" charset="-127"/>
                </a:rPr>
                <a:t>총연장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52.9km, </a:t>
              </a:r>
              <a:r>
                <a:rPr lang="ko-KR" altLang="en-US" sz="2717" dirty="0" err="1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표정속도</a:t>
              </a:r>
              <a:r>
                <a:rPr lang="ko-KR" altLang="en-US" sz="2717" dirty="0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 </a:t>
              </a:r>
              <a:r>
                <a:rPr lang="en-US" altLang="ko-KR" sz="2717" dirty="0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37.3km/h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, 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소요시간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85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분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, </a:t>
              </a:r>
              <a:r>
                <a:rPr lang="ko-KR" altLang="en-US" sz="2717" dirty="0" err="1" smtClean="0">
                  <a:latin typeface="HY견고딕" panose="02030600000101010101" pitchFamily="18" charset="-127"/>
                </a:rPr>
                <a:t>정차역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36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개</a:t>
              </a:r>
              <a:endParaRPr lang="en-US" altLang="ko-KR" sz="2717" dirty="0" smtClean="0">
                <a:latin typeface="HY견고딕" panose="02030600000101010101" pitchFamily="18" charset="-127"/>
              </a:endParaRPr>
            </a:p>
            <a:p>
              <a:pPr eaLnBrk="1" hangingPunct="1">
                <a:lnSpc>
                  <a:spcPts val="4300"/>
                </a:lnSpc>
                <a:spcBef>
                  <a:spcPct val="10000"/>
                </a:spcBef>
              </a:pPr>
              <a:r>
                <a:rPr lang="ko-KR" altLang="en-US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 </a:t>
              </a:r>
              <a:r>
                <a:rPr lang="en-US" altLang="ko-KR" sz="2717" i="1" dirty="0">
                  <a:latin typeface="HY견고딕" panose="02030600000101010101" pitchFamily="18" charset="-127"/>
                  <a:sym typeface="Wingdings" panose="05000000000000000000" pitchFamily="2" charset="2"/>
                </a:rPr>
                <a:t></a:t>
              </a:r>
              <a:r>
                <a:rPr lang="ko-KR" altLang="en-US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 낮은 </a:t>
              </a:r>
              <a:r>
                <a:rPr lang="ko-KR" altLang="en-US" sz="2717" i="1" dirty="0" err="1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표정속도로</a:t>
              </a:r>
              <a:r>
                <a:rPr lang="ko-KR" altLang="en-US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 인해 광역버스 대비 경쟁력 약화</a:t>
              </a:r>
              <a:r>
                <a:rPr lang="en-US" altLang="ko-KR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, </a:t>
              </a:r>
              <a:r>
                <a:rPr lang="ko-KR" altLang="en-US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광역철도 기능 미흡</a:t>
              </a:r>
              <a:endParaRPr lang="ko-KR" altLang="en-US" sz="2717" i="1" dirty="0">
                <a:latin typeface="HY견고딕" panose="02030600000101010101" pitchFamily="18" charset="-127"/>
              </a:endParaRPr>
            </a:p>
          </p:txBody>
        </p:sp>
      </p:grpSp>
      <p:grpSp>
        <p:nvGrpSpPr>
          <p:cNvPr id="107" name="Group 1979"/>
          <p:cNvGrpSpPr>
            <a:grpSpLocks/>
          </p:cNvGrpSpPr>
          <p:nvPr/>
        </p:nvGrpSpPr>
        <p:grpSpPr bwMode="auto">
          <a:xfrm>
            <a:off x="639774" y="11618972"/>
            <a:ext cx="8114053" cy="529847"/>
            <a:chOff x="354" y="8671"/>
            <a:chExt cx="7902" cy="516"/>
          </a:xfrm>
        </p:grpSpPr>
        <p:sp>
          <p:nvSpPr>
            <p:cNvPr id="108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9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smtClean="0">
                  <a:latin typeface="HY견고딕" panose="02030600000101010101" pitchFamily="18" charset="-127"/>
                </a:rPr>
                <a:t>현황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grpSp>
        <p:nvGrpSpPr>
          <p:cNvPr id="181" name="그룹 180"/>
          <p:cNvGrpSpPr/>
          <p:nvPr/>
        </p:nvGrpSpPr>
        <p:grpSpPr>
          <a:xfrm>
            <a:off x="656852" y="27995384"/>
            <a:ext cx="20181705" cy="553998"/>
            <a:chOff x="1073001" y="10026857"/>
            <a:chExt cx="31201164" cy="856487"/>
          </a:xfrm>
        </p:grpSpPr>
        <p:pic>
          <p:nvPicPr>
            <p:cNvPr id="182" name="Picture 116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001" y="10189814"/>
              <a:ext cx="4349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" name="Text Box 117"/>
            <p:cNvSpPr txBox="1">
              <a:spLocks noChangeArrowheads="1"/>
            </p:cNvSpPr>
            <p:nvPr/>
          </p:nvSpPr>
          <p:spPr bwMode="auto">
            <a:xfrm>
              <a:off x="1701450" y="10026857"/>
              <a:ext cx="30572715" cy="856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>
                <a:lnSpc>
                  <a:spcPts val="3557"/>
                </a:lnSpc>
                <a:spcBef>
                  <a:spcPct val="10000"/>
                </a:spcBef>
              </a:pPr>
              <a:r>
                <a:rPr lang="ko-KR" altLang="en-US" sz="2717" dirty="0" smtClean="0">
                  <a:latin typeface="HY견고딕" panose="02030600000101010101" pitchFamily="18" charset="-127"/>
                </a:rPr>
                <a:t>광역철도 목표 </a:t>
              </a:r>
              <a:r>
                <a:rPr lang="ko-KR" altLang="en-US" sz="2717" dirty="0" err="1" smtClean="0">
                  <a:latin typeface="HY견고딕" panose="02030600000101010101" pitchFamily="18" charset="-127"/>
                </a:rPr>
                <a:t>표정속도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·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속도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(</a:t>
              </a:r>
              <a:r>
                <a:rPr lang="en-US" altLang="ko-KR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50km/h, 60</a:t>
              </a: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분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)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에 근접한 서비스 제공 </a:t>
              </a:r>
              <a:r>
                <a:rPr lang="en-US" altLang="ko-KR" sz="2717" dirty="0">
                  <a:latin typeface="HY견고딕" panose="02030600000101010101" pitchFamily="18" charset="-127"/>
                  <a:sym typeface="Wingdings" panose="05000000000000000000" pitchFamily="2" charset="2"/>
                </a:rPr>
                <a:t>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 </a:t>
              </a:r>
              <a:r>
                <a:rPr lang="ko-KR" altLang="en-US" sz="2717" dirty="0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광역철도 기능 정상화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, 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대중교통 편의성 제고 </a:t>
              </a:r>
              <a:endParaRPr lang="ko-KR" altLang="en-US" sz="2717" dirty="0">
                <a:latin typeface="HY견고딕" panose="02030600000101010101" pitchFamily="18" charset="-127"/>
              </a:endParaRPr>
            </a:p>
          </p:txBody>
        </p:sp>
      </p:grpSp>
      <p:sp>
        <p:nvSpPr>
          <p:cNvPr id="112" name="AutoShape 6"/>
          <p:cNvSpPr>
            <a:spLocks noChangeArrowheads="1"/>
          </p:cNvSpPr>
          <p:nvPr/>
        </p:nvSpPr>
        <p:spPr bwMode="auto">
          <a:xfrm>
            <a:off x="188411" y="10362159"/>
            <a:ext cx="21073571" cy="885132"/>
          </a:xfrm>
          <a:prstGeom prst="roundRect">
            <a:avLst>
              <a:gd name="adj" fmla="val 4949"/>
            </a:avLst>
          </a:prstGeom>
          <a:solidFill>
            <a:srgbClr val="2182AC"/>
          </a:solidFill>
          <a:ln>
            <a:noFill/>
          </a:ln>
        </p:spPr>
        <p:txBody>
          <a:bodyPr wrap="none" anchor="ctr"/>
          <a:lstStyle>
            <a:lvl1pPr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557" b="1" dirty="0" smtClean="0">
                <a:solidFill>
                  <a:schemeClr val="bg1"/>
                </a:solidFill>
              </a:rPr>
              <a:t>Project Executive Plan and Analysis Results</a:t>
            </a:r>
            <a:endParaRPr lang="en-US" altLang="ko-KR" sz="3557" b="1" dirty="0">
              <a:solidFill>
                <a:schemeClr val="bg1"/>
              </a:solidFill>
            </a:endParaRPr>
          </a:p>
        </p:txBody>
      </p:sp>
      <p:sp>
        <p:nvSpPr>
          <p:cNvPr id="120" name="AutoShape 6"/>
          <p:cNvSpPr>
            <a:spLocks noChangeArrowheads="1"/>
          </p:cNvSpPr>
          <p:nvPr/>
        </p:nvSpPr>
        <p:spPr bwMode="auto">
          <a:xfrm>
            <a:off x="254438" y="26945090"/>
            <a:ext cx="21073571" cy="885132"/>
          </a:xfrm>
          <a:prstGeom prst="roundRect">
            <a:avLst>
              <a:gd name="adj" fmla="val 4949"/>
            </a:avLst>
          </a:prstGeom>
          <a:solidFill>
            <a:srgbClr val="2182AC"/>
          </a:solidFill>
          <a:ln>
            <a:noFill/>
          </a:ln>
        </p:spPr>
        <p:txBody>
          <a:bodyPr wrap="none" anchor="ctr"/>
          <a:lstStyle>
            <a:lvl1pPr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4525963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4525963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557" b="1" dirty="0">
                <a:solidFill>
                  <a:schemeClr val="bg1"/>
                </a:solidFill>
              </a:rPr>
              <a:t>Conclusions</a:t>
            </a:r>
          </a:p>
        </p:txBody>
      </p:sp>
      <p:grpSp>
        <p:nvGrpSpPr>
          <p:cNvPr id="78" name="그룹 77"/>
          <p:cNvGrpSpPr/>
          <p:nvPr/>
        </p:nvGrpSpPr>
        <p:grpSpPr>
          <a:xfrm>
            <a:off x="257331" y="7402705"/>
            <a:ext cx="13458817" cy="1830245"/>
            <a:chOff x="1174222" y="11419080"/>
            <a:chExt cx="20807496" cy="2829578"/>
          </a:xfrm>
        </p:grpSpPr>
        <p:pic>
          <p:nvPicPr>
            <p:cNvPr id="80" name="Picture 116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222" y="11712927"/>
              <a:ext cx="434975" cy="412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Text Box 117"/>
            <p:cNvSpPr txBox="1">
              <a:spLocks noChangeArrowheads="1"/>
            </p:cNvSpPr>
            <p:nvPr/>
          </p:nvSpPr>
          <p:spPr bwMode="auto">
            <a:xfrm>
              <a:off x="1766784" y="11419080"/>
              <a:ext cx="20214934" cy="2829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>
                <a:lnSpc>
                  <a:spcPts val="4300"/>
                </a:lnSpc>
                <a:spcBef>
                  <a:spcPct val="10000"/>
                </a:spcBef>
              </a:pPr>
              <a:r>
                <a:rPr lang="en-US" altLang="ko-KR" sz="2717" dirty="0" smtClean="0"/>
                <a:t>‘17.7. </a:t>
              </a:r>
              <a:r>
                <a:rPr lang="ko-KR" altLang="en-US" sz="2717" dirty="0" err="1" smtClean="0"/>
                <a:t>국토교통부</a:t>
              </a:r>
              <a:r>
                <a:rPr lang="ko-KR" altLang="en-US" sz="2717" dirty="0" smtClean="0"/>
                <a:t> </a:t>
              </a:r>
              <a:r>
                <a:rPr lang="en-US" altLang="ko-KR" sz="2717" dirty="0" smtClean="0"/>
                <a:t>‘</a:t>
              </a:r>
              <a:r>
                <a:rPr lang="ko-KR" altLang="en-US" sz="2717" dirty="0" smtClean="0">
                  <a:solidFill>
                    <a:srgbClr val="0000FF"/>
                  </a:solidFill>
                </a:rPr>
                <a:t>수도권 전철 </a:t>
              </a:r>
              <a:r>
                <a:rPr lang="ko-KR" altLang="en-US" sz="2717" dirty="0" err="1" smtClean="0">
                  <a:solidFill>
                    <a:srgbClr val="0000FF"/>
                  </a:solidFill>
                </a:rPr>
                <a:t>급행화</a:t>
              </a:r>
              <a:r>
                <a:rPr lang="ko-KR" altLang="en-US" sz="2717" dirty="0" smtClean="0">
                  <a:solidFill>
                    <a:srgbClr val="0000FF"/>
                  </a:solidFill>
                </a:rPr>
                <a:t> 추진방안</a:t>
              </a:r>
              <a:r>
                <a:rPr lang="en-US" altLang="ko-KR" sz="2717" dirty="0" smtClean="0"/>
                <a:t>‘ </a:t>
              </a:r>
              <a:r>
                <a:rPr lang="ko-KR" altLang="en-US" sz="2717" dirty="0" smtClean="0"/>
                <a:t>발표</a:t>
              </a:r>
              <a:endParaRPr lang="en-US" altLang="ko-KR" sz="2717" dirty="0"/>
            </a:p>
            <a:p>
              <a:pPr eaLnBrk="1" hangingPunct="1">
                <a:lnSpc>
                  <a:spcPts val="4300"/>
                </a:lnSpc>
                <a:spcBef>
                  <a:spcPct val="10000"/>
                </a:spcBef>
              </a:pPr>
              <a:r>
                <a:rPr lang="en-US" altLang="ko-KR" sz="2717" dirty="0">
                  <a:latin typeface="HY견고딕" panose="02030600000101010101" pitchFamily="18" charset="-127"/>
                </a:rPr>
                <a:t> </a:t>
              </a:r>
              <a:r>
                <a:rPr lang="en-US" altLang="ko-KR" sz="2717" dirty="0" smtClean="0">
                  <a:latin typeface="HY견고딕" panose="02030600000101010101" pitchFamily="18" charset="-127"/>
                </a:rPr>
                <a:t>- </a:t>
              </a:r>
              <a:r>
                <a:rPr lang="ko-KR" altLang="en-US" sz="2717" dirty="0">
                  <a:latin typeface="HY견고딕" panose="02030600000101010101" pitchFamily="18" charset="-127"/>
                </a:rPr>
                <a:t>경부선</a:t>
              </a:r>
              <a:r>
                <a:rPr lang="en-US" altLang="ko-KR" sz="2717" dirty="0" smtClean="0"/>
                <a:t>, </a:t>
              </a:r>
              <a:r>
                <a:rPr lang="ko-KR" altLang="en-US" sz="2717" dirty="0" smtClean="0"/>
                <a:t>분당선</a:t>
              </a:r>
              <a:r>
                <a:rPr lang="en-US" altLang="ko-KR" sz="2717" dirty="0" smtClean="0"/>
                <a:t>, </a:t>
              </a:r>
              <a:r>
                <a:rPr lang="ko-KR" altLang="en-US" sz="2717" dirty="0" smtClean="0"/>
                <a:t>과천선</a:t>
              </a:r>
              <a:r>
                <a:rPr lang="en-US" altLang="ko-KR" sz="2717" dirty="0" smtClean="0"/>
                <a:t>, </a:t>
              </a:r>
              <a:r>
                <a:rPr lang="ko-KR" altLang="en-US" sz="2717" dirty="0" err="1" smtClean="0"/>
                <a:t>일산선에</a:t>
              </a:r>
              <a:r>
                <a:rPr lang="ko-KR" altLang="en-US" sz="2717" dirty="0" smtClean="0"/>
                <a:t> 대피선 설치 등 </a:t>
              </a:r>
              <a:r>
                <a:rPr lang="ko-KR" altLang="en-US" sz="2717" dirty="0" err="1" smtClean="0"/>
                <a:t>시설개량</a:t>
              </a:r>
              <a:r>
                <a:rPr lang="ko-KR" altLang="en-US" sz="2717" dirty="0" smtClean="0"/>
                <a:t> 통해 급행열차 확대</a:t>
              </a:r>
              <a:endParaRPr lang="en-US" altLang="ko-KR" sz="2717" dirty="0" smtClean="0"/>
            </a:p>
            <a:p>
              <a:pPr eaLnBrk="1" hangingPunct="1">
                <a:lnSpc>
                  <a:spcPts val="4300"/>
                </a:lnSpc>
                <a:spcBef>
                  <a:spcPct val="10000"/>
                </a:spcBef>
              </a:pPr>
              <a:r>
                <a:rPr lang="en-US" altLang="ko-KR" sz="2717" i="1" dirty="0"/>
                <a:t> </a:t>
              </a:r>
              <a:r>
                <a:rPr lang="en-US" altLang="ko-KR" sz="2717" i="1" dirty="0" smtClean="0">
                  <a:latin typeface="HY견고딕" panose="02030600000101010101" pitchFamily="18" charset="-127"/>
                  <a:sym typeface="Wingdings" panose="05000000000000000000" pitchFamily="2" charset="2"/>
                </a:rPr>
                <a:t></a:t>
              </a:r>
              <a:r>
                <a:rPr lang="en-US" altLang="ko-KR" sz="2717" i="1" dirty="0" smtClean="0"/>
                <a:t> </a:t>
              </a:r>
              <a:r>
                <a:rPr lang="ko-KR" altLang="en-US" sz="2717" i="1" dirty="0" smtClean="0"/>
                <a:t>분당선급행화 도입 </a:t>
              </a:r>
              <a:r>
                <a:rPr lang="ko-KR" altLang="en-US" sz="2717" i="1" dirty="0" err="1" smtClean="0"/>
                <a:t>타당성검토</a:t>
              </a:r>
              <a:r>
                <a:rPr lang="ko-KR" altLang="en-US" sz="2717" i="1" dirty="0" smtClean="0"/>
                <a:t> 연구 수행</a:t>
              </a:r>
              <a:r>
                <a:rPr lang="en-US" altLang="ko-KR" sz="2717" i="1" dirty="0" smtClean="0"/>
                <a:t>(‘16) 	</a:t>
              </a:r>
            </a:p>
          </p:txBody>
        </p:sp>
      </p:grpSp>
      <p:pic>
        <p:nvPicPr>
          <p:cNvPr id="88" name="Picture 390" descr="yellow arrow"/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34355"/>
            <a:ext cx="1215612" cy="59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11931" y="20668"/>
            <a:ext cx="119512" cy="254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9146" tIns="29573" rIns="59146" bIns="2957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65"/>
          </a:p>
        </p:txBody>
      </p:sp>
      <p:grpSp>
        <p:nvGrpSpPr>
          <p:cNvPr id="128" name="그룹 127"/>
          <p:cNvGrpSpPr/>
          <p:nvPr/>
        </p:nvGrpSpPr>
        <p:grpSpPr>
          <a:xfrm>
            <a:off x="656852" y="28553161"/>
            <a:ext cx="20181705" cy="497765"/>
            <a:chOff x="1073001" y="10000144"/>
            <a:chExt cx="31201164" cy="769551"/>
          </a:xfrm>
        </p:grpSpPr>
        <p:pic>
          <p:nvPicPr>
            <p:cNvPr id="129" name="Picture 116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001" y="10189814"/>
              <a:ext cx="4349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Text Box 117"/>
            <p:cNvSpPr txBox="1">
              <a:spLocks noChangeArrowheads="1"/>
            </p:cNvSpPr>
            <p:nvPr/>
          </p:nvSpPr>
          <p:spPr bwMode="auto">
            <a:xfrm>
              <a:off x="1701450" y="10000144"/>
              <a:ext cx="30572715" cy="7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>
                <a:lnSpc>
                  <a:spcPts val="3557"/>
                </a:lnSpc>
                <a:spcBef>
                  <a:spcPct val="10000"/>
                </a:spcBef>
              </a:pPr>
              <a:r>
                <a:rPr lang="ko-KR" altLang="en-US" sz="2717" dirty="0" err="1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무중단</a:t>
              </a: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 </a:t>
              </a:r>
              <a:r>
                <a:rPr lang="ko-KR" altLang="en-US" sz="2717" dirty="0" err="1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근접시공</a:t>
              </a:r>
              <a:r>
                <a:rPr lang="ko-KR" altLang="en-US" sz="2717" dirty="0" smtClean="0">
                  <a:solidFill>
                    <a:srgbClr val="0000FF"/>
                  </a:solidFill>
                  <a:latin typeface="HY견고딕" panose="02030600000101010101" pitchFamily="18" charset="-127"/>
                </a:rPr>
                <a:t> 국산화 기술개발 결과 적용 </a:t>
              </a:r>
              <a:r>
                <a:rPr lang="ko-KR" altLang="en-US" sz="2717" dirty="0" smtClean="0">
                  <a:latin typeface="HY견고딕" panose="02030600000101010101" pitchFamily="18" charset="-127"/>
                </a:rPr>
                <a:t>및 기존선 </a:t>
              </a:r>
              <a:r>
                <a:rPr lang="ko-KR" altLang="en-US" sz="2717" dirty="0" err="1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급행화</a:t>
              </a:r>
              <a:r>
                <a:rPr lang="ko-KR" altLang="en-US" sz="2717" dirty="0" smtClean="0">
                  <a:solidFill>
                    <a:srgbClr val="FF0000"/>
                  </a:solidFill>
                  <a:latin typeface="HY견고딕" panose="02030600000101010101" pitchFamily="18" charset="-127"/>
                </a:rPr>
                <a:t> 연구개발 성과 확산</a:t>
              </a:r>
              <a:endParaRPr lang="ko-KR" altLang="en-US" sz="2717" dirty="0">
                <a:solidFill>
                  <a:srgbClr val="FF0000"/>
                </a:solidFill>
                <a:latin typeface="HY견고딕" panose="02030600000101010101" pitchFamily="18" charset="-127"/>
              </a:endParaRPr>
            </a:p>
          </p:txBody>
        </p:sp>
      </p:grpSp>
      <p:sp>
        <p:nvSpPr>
          <p:cNvPr id="156" name="AutoShape 95"/>
          <p:cNvSpPr>
            <a:spLocks noChangeArrowheads="1"/>
          </p:cNvSpPr>
          <p:nvPr/>
        </p:nvSpPr>
        <p:spPr bwMode="auto">
          <a:xfrm>
            <a:off x="188411" y="11447475"/>
            <a:ext cx="21023780" cy="4460081"/>
          </a:xfrm>
          <a:prstGeom prst="roundRect">
            <a:avLst>
              <a:gd name="adj" fmla="val 3083"/>
            </a:avLst>
          </a:prstGeom>
          <a:noFill/>
          <a:ln w="12700" algn="ctr">
            <a:solidFill>
              <a:srgbClr val="969696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3" name="Text Box 117"/>
          <p:cNvSpPr txBox="1">
            <a:spLocks noChangeArrowheads="1"/>
          </p:cNvSpPr>
          <p:nvPr/>
        </p:nvSpPr>
        <p:spPr bwMode="auto">
          <a:xfrm>
            <a:off x="1063349" y="29040869"/>
            <a:ext cx="19775208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eaLnBrk="0" hangingPunct="0"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ts val="3557"/>
              </a:lnSpc>
              <a:spcBef>
                <a:spcPct val="10000"/>
              </a:spcBef>
            </a:pPr>
            <a:r>
              <a:rPr lang="ko-KR" altLang="en-US" sz="2717" dirty="0" smtClean="0">
                <a:latin typeface="HY견고딕" panose="02030600000101010101" pitchFamily="18" charset="-127"/>
              </a:rPr>
              <a:t> </a:t>
            </a:r>
            <a:endParaRPr lang="ko-KR" altLang="en-US" sz="2717" dirty="0">
              <a:latin typeface="HY견고딕" panose="02030600000101010101" pitchFamily="18" charset="-127"/>
            </a:endParaRPr>
          </a:p>
        </p:txBody>
      </p:sp>
      <p:grpSp>
        <p:nvGrpSpPr>
          <p:cNvPr id="126" name="Group 1979"/>
          <p:cNvGrpSpPr>
            <a:grpSpLocks/>
          </p:cNvGrpSpPr>
          <p:nvPr/>
        </p:nvGrpSpPr>
        <p:grpSpPr bwMode="auto">
          <a:xfrm>
            <a:off x="11146711" y="11527547"/>
            <a:ext cx="8114053" cy="529847"/>
            <a:chOff x="354" y="8671"/>
            <a:chExt cx="7902" cy="516"/>
          </a:xfrm>
        </p:grpSpPr>
        <p:sp>
          <p:nvSpPr>
            <p:cNvPr id="127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dirty="0" smtClean="0">
                  <a:latin typeface="HY견고딕" panose="02030600000101010101" pitchFamily="18" charset="-127"/>
                </a:rPr>
                <a:t>급행 운영계획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sp>
        <p:nvSpPr>
          <p:cNvPr id="134" name="AutoShape 95"/>
          <p:cNvSpPr>
            <a:spLocks noChangeArrowheads="1"/>
          </p:cNvSpPr>
          <p:nvPr/>
        </p:nvSpPr>
        <p:spPr bwMode="auto">
          <a:xfrm>
            <a:off x="282474" y="16182057"/>
            <a:ext cx="8033074" cy="10454956"/>
          </a:xfrm>
          <a:prstGeom prst="roundRect">
            <a:avLst>
              <a:gd name="adj" fmla="val 3083"/>
            </a:avLst>
          </a:prstGeom>
          <a:noFill/>
          <a:ln w="12700" algn="ctr">
            <a:solidFill>
              <a:srgbClr val="969696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5" name="Group 1979"/>
          <p:cNvGrpSpPr>
            <a:grpSpLocks/>
          </p:cNvGrpSpPr>
          <p:nvPr/>
        </p:nvGrpSpPr>
        <p:grpSpPr bwMode="auto">
          <a:xfrm>
            <a:off x="599923" y="16431881"/>
            <a:ext cx="7472628" cy="529847"/>
            <a:chOff x="354" y="8671"/>
            <a:chExt cx="7902" cy="516"/>
          </a:xfrm>
        </p:grpSpPr>
        <p:sp>
          <p:nvSpPr>
            <p:cNvPr id="136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dirty="0" smtClean="0">
                  <a:latin typeface="HY견고딕" panose="02030600000101010101" pitchFamily="18" charset="-127"/>
                </a:rPr>
                <a:t>사업 내용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sp>
        <p:nvSpPr>
          <p:cNvPr id="138" name="Text Box 64"/>
          <p:cNvSpPr txBox="1">
            <a:spLocks noChangeArrowheads="1"/>
          </p:cNvSpPr>
          <p:nvPr/>
        </p:nvSpPr>
        <p:spPr bwMode="auto">
          <a:xfrm>
            <a:off x="639774" y="17045194"/>
            <a:ext cx="7343723" cy="1458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marL="369646" indent="-369646" eaLnBrk="1" hangingPunct="1">
              <a:lnSpc>
                <a:spcPct val="110000"/>
              </a:lnSpc>
              <a:spcBef>
                <a:spcPct val="20000"/>
              </a:spcBef>
              <a:buFontTx/>
              <a:buChar char="-"/>
            </a:pPr>
            <a:r>
              <a:rPr lang="ko-KR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수서</a:t>
            </a:r>
            <a:r>
              <a:rPr lang="en-US" altLang="ko-KR" sz="2400" dirty="0">
                <a:solidFill>
                  <a:srgbClr val="0000FF"/>
                </a:solidFill>
                <a:sym typeface="Wingdings" panose="05000000000000000000" pitchFamily="2" charset="2"/>
              </a:rPr>
              <a:t>~</a:t>
            </a:r>
            <a:r>
              <a:rPr lang="ko-KR" altLang="en-US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대모산입구</a:t>
            </a:r>
            <a:r>
              <a:rPr lang="ko-KR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 대피선 </a:t>
            </a:r>
            <a:r>
              <a:rPr lang="ko-KR" altLang="en-US" sz="2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설치</a:t>
            </a:r>
            <a:r>
              <a:rPr lang="en-US" altLang="ko-KR" sz="2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400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야탑역</a:t>
            </a:r>
            <a:r>
              <a:rPr lang="ko-KR" altLang="en-US" sz="2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2400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부본선</a:t>
            </a:r>
            <a:r>
              <a:rPr lang="ko-KR" altLang="en-US" sz="2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설치</a:t>
            </a:r>
            <a:endParaRPr lang="en-US" altLang="ko-KR" sz="2400" dirty="0" smtClean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 marL="369646" indent="-369646" eaLnBrk="1" hangingPunct="1">
              <a:lnSpc>
                <a:spcPct val="110000"/>
              </a:lnSpc>
              <a:spcBef>
                <a:spcPct val="20000"/>
              </a:spcBef>
              <a:buFontTx/>
              <a:buChar char="-"/>
            </a:pPr>
            <a:r>
              <a:rPr lang="ko-KR" altLang="en-US" sz="2400" dirty="0" smtClean="0">
                <a:sym typeface="Wingdings" panose="05000000000000000000" pitchFamily="2" charset="2"/>
              </a:rPr>
              <a:t>신호 개량</a:t>
            </a:r>
            <a:r>
              <a:rPr lang="en-US" altLang="ko-KR" sz="2400" dirty="0" smtClean="0">
                <a:sym typeface="Wingdings" panose="05000000000000000000" pitchFamily="2" charset="2"/>
              </a:rPr>
              <a:t>(ATC → </a:t>
            </a:r>
            <a:r>
              <a:rPr lang="en-US" altLang="ko-KR" sz="2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ATO</a:t>
            </a:r>
            <a:r>
              <a:rPr lang="en-US" altLang="ko-KR" sz="2400" dirty="0" smtClean="0">
                <a:sym typeface="Wingdings" panose="05000000000000000000" pitchFamily="2" charset="2"/>
              </a:rPr>
              <a:t>) : </a:t>
            </a:r>
            <a:r>
              <a:rPr lang="ko-KR" altLang="en-US" sz="2400" dirty="0" err="1" smtClean="0">
                <a:sym typeface="Wingdings" panose="05000000000000000000" pitchFamily="2" charset="2"/>
              </a:rPr>
              <a:t>운행간</a:t>
            </a:r>
            <a:r>
              <a:rPr lang="ko-KR" altLang="en-US" sz="2400" dirty="0" smtClean="0">
                <a:sym typeface="Wingdings" panose="05000000000000000000" pitchFamily="2" charset="2"/>
              </a:rPr>
              <a:t> 안전성 확보</a:t>
            </a:r>
            <a:endParaRPr lang="en-US" altLang="ko-KR" sz="2400" dirty="0" smtClean="0">
              <a:sym typeface="Wingdings" panose="05000000000000000000" pitchFamily="2" charset="2"/>
            </a:endParaRPr>
          </a:p>
          <a:p>
            <a:pPr marL="369646" indent="-369646" eaLnBrk="1" hangingPunct="1">
              <a:lnSpc>
                <a:spcPct val="110000"/>
              </a:lnSpc>
              <a:spcBef>
                <a:spcPct val="20000"/>
              </a:spcBef>
              <a:buFontTx/>
              <a:buChar char="-"/>
            </a:pPr>
            <a:r>
              <a:rPr lang="ko-KR" altLang="en-US" sz="2400" dirty="0" smtClean="0">
                <a:sym typeface="Wingdings" panose="05000000000000000000" pitchFamily="2" charset="2"/>
              </a:rPr>
              <a:t>차량 </a:t>
            </a:r>
            <a:r>
              <a:rPr lang="en-US" altLang="ko-KR" sz="2400" dirty="0" smtClean="0">
                <a:sym typeface="Wingdings" panose="05000000000000000000" pitchFamily="2" charset="2"/>
              </a:rPr>
              <a:t>7</a:t>
            </a:r>
            <a:r>
              <a:rPr lang="ko-KR" altLang="en-US" sz="2400" dirty="0" smtClean="0">
                <a:sym typeface="Wingdings" panose="05000000000000000000" pitchFamily="2" charset="2"/>
              </a:rPr>
              <a:t>편성 추가 구입 </a:t>
            </a:r>
            <a:r>
              <a:rPr lang="en-US" altLang="ko-KR" sz="2400" dirty="0" smtClean="0">
                <a:sym typeface="Wingdings" panose="05000000000000000000" pitchFamily="2" charset="2"/>
              </a:rPr>
              <a:t>: </a:t>
            </a:r>
            <a:r>
              <a:rPr lang="ko-KR" altLang="en-US" sz="2400" dirty="0" err="1" smtClean="0">
                <a:sym typeface="Wingdings" panose="05000000000000000000" pitchFamily="2" charset="2"/>
              </a:rPr>
              <a:t>첨두시</a:t>
            </a:r>
            <a:r>
              <a:rPr lang="ko-KR" altLang="en-US" sz="2400" dirty="0" smtClean="0">
                <a:sym typeface="Wingdings" panose="05000000000000000000" pitchFamily="2" charset="2"/>
              </a:rPr>
              <a:t> 열차 추가투입</a:t>
            </a:r>
            <a:endParaRPr lang="en-US" altLang="ko-KR" sz="2400" dirty="0" smtClean="0">
              <a:sym typeface="Wingdings" panose="05000000000000000000" pitchFamily="2" charset="2"/>
            </a:endParaRPr>
          </a:p>
        </p:txBody>
      </p:sp>
      <p:grpSp>
        <p:nvGrpSpPr>
          <p:cNvPr id="139" name="Group 1979"/>
          <p:cNvGrpSpPr>
            <a:grpSpLocks/>
          </p:cNvGrpSpPr>
          <p:nvPr/>
        </p:nvGrpSpPr>
        <p:grpSpPr bwMode="auto">
          <a:xfrm>
            <a:off x="601323" y="18598178"/>
            <a:ext cx="7595027" cy="529847"/>
            <a:chOff x="354" y="8671"/>
            <a:chExt cx="7902" cy="516"/>
          </a:xfrm>
        </p:grpSpPr>
        <p:sp>
          <p:nvSpPr>
            <p:cNvPr id="140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1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smtClean="0">
                  <a:latin typeface="HY견고딕" panose="02030600000101010101" pitchFamily="18" charset="-127"/>
                </a:rPr>
                <a:t>사업비 산출 결과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grpSp>
        <p:nvGrpSpPr>
          <p:cNvPr id="144" name="Group 1979"/>
          <p:cNvGrpSpPr>
            <a:grpSpLocks/>
          </p:cNvGrpSpPr>
          <p:nvPr/>
        </p:nvGrpSpPr>
        <p:grpSpPr bwMode="auto">
          <a:xfrm>
            <a:off x="8694776" y="16479768"/>
            <a:ext cx="8114053" cy="529847"/>
            <a:chOff x="354" y="8671"/>
            <a:chExt cx="7902" cy="516"/>
          </a:xfrm>
        </p:grpSpPr>
        <p:sp>
          <p:nvSpPr>
            <p:cNvPr id="145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dirty="0" err="1" smtClean="0">
                  <a:latin typeface="HY견고딕" panose="02030600000101010101" pitchFamily="18" charset="-127"/>
                </a:rPr>
                <a:t>무중단</a:t>
              </a:r>
              <a:r>
                <a:rPr lang="ko-KR" altLang="en-US" sz="2846" dirty="0" smtClean="0">
                  <a:latin typeface="HY견고딕" panose="02030600000101010101" pitchFamily="18" charset="-127"/>
                </a:rPr>
                <a:t> </a:t>
              </a:r>
              <a:r>
                <a:rPr lang="ko-KR" altLang="en-US" sz="2846" dirty="0" err="1" smtClean="0">
                  <a:latin typeface="HY견고딕" panose="02030600000101010101" pitchFamily="18" charset="-127"/>
                </a:rPr>
                <a:t>근접시공</a:t>
              </a:r>
              <a:r>
                <a:rPr lang="ko-KR" altLang="en-US" sz="2800" baseline="30000" dirty="0" smtClean="0">
                  <a:latin typeface="HY견고딕" panose="02030600000101010101" pitchFamily="18" charset="-127"/>
                </a:rPr>
                <a:t>*</a:t>
              </a:r>
              <a:r>
                <a:rPr lang="ko-KR" altLang="en-US" sz="2846" dirty="0" smtClean="0">
                  <a:latin typeface="HY견고딕" panose="02030600000101010101" pitchFamily="18" charset="-127"/>
                </a:rPr>
                <a:t> 설계 개념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12995840" y="22187395"/>
            <a:ext cx="4368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&lt; 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기존선 구조물 철거 개념도 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&gt;</a:t>
            </a:r>
            <a:endParaRPr lang="ko-KR" altLang="en-US" sz="24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1025" name="_x586024424" descr="EMB000053ac064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1" t="2686" r="8256" b="3792"/>
          <a:stretch/>
        </p:blipFill>
        <p:spPr bwMode="auto">
          <a:xfrm>
            <a:off x="16642737" y="4402223"/>
            <a:ext cx="4359856" cy="5659894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Text Box 64"/>
          <p:cNvSpPr txBox="1">
            <a:spLocks noChangeArrowheads="1"/>
          </p:cNvSpPr>
          <p:nvPr/>
        </p:nvSpPr>
        <p:spPr bwMode="auto">
          <a:xfrm>
            <a:off x="1215612" y="9453563"/>
            <a:ext cx="1587062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1252538" eaLnBrk="0" hangingPunct="0"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1252538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420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ko-KR" altLang="en-US" sz="2717" dirty="0" smtClean="0">
                <a:solidFill>
                  <a:srgbClr val="0000FF"/>
                </a:solidFill>
                <a:sym typeface="Wingdings" panose="05000000000000000000" pitchFamily="2" charset="2"/>
              </a:rPr>
              <a:t>운행 중인 광역</a:t>
            </a:r>
            <a:r>
              <a:rPr lang="en-US" altLang="ko-KR" sz="2717" dirty="0" smtClean="0">
                <a:solidFill>
                  <a:srgbClr val="0000FF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2717" dirty="0" smtClean="0">
                <a:solidFill>
                  <a:srgbClr val="0000FF"/>
                </a:solidFill>
                <a:sym typeface="Wingdings" panose="05000000000000000000" pitchFamily="2" charset="2"/>
              </a:rPr>
              <a:t>도시철도 </a:t>
            </a:r>
            <a:r>
              <a:rPr lang="ko-KR" altLang="en-US" sz="2717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급행화</a:t>
            </a:r>
            <a:r>
              <a:rPr lang="ko-KR" altLang="en-US" sz="2717" dirty="0" smtClean="0">
                <a:solidFill>
                  <a:srgbClr val="0000FF"/>
                </a:solidFill>
                <a:sym typeface="Wingdings" panose="05000000000000000000" pitchFamily="2" charset="2"/>
              </a:rPr>
              <a:t> 위한 시공법 및 운영계획 최적화 기술개발을 위한 연구개발 수행 </a:t>
            </a:r>
            <a:endParaRPr lang="en-US" altLang="ko-KR" sz="2717" dirty="0" smtClean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49731" y="11995486"/>
            <a:ext cx="9654049" cy="1876754"/>
            <a:chOff x="766483" y="12723232"/>
            <a:chExt cx="9654049" cy="1876754"/>
          </a:xfrm>
        </p:grpSpPr>
        <p:sp>
          <p:nvSpPr>
            <p:cNvPr id="148" name="직사각형 147"/>
            <p:cNvSpPr/>
            <p:nvPr/>
          </p:nvSpPr>
          <p:spPr>
            <a:xfrm>
              <a:off x="883474" y="14204542"/>
              <a:ext cx="9412295" cy="1524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648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수원</a:t>
              </a:r>
              <a:endParaRPr lang="ko-KR" altLang="en-US" sz="1600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035278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매교</a:t>
              </a:r>
              <a:endParaRPr lang="ko-KR" altLang="en-US" sz="1600" dirty="0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04073" y="13175843"/>
              <a:ext cx="246221" cy="9144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수원시청</a:t>
              </a:r>
              <a:endParaRPr lang="ko-KR" altLang="en-US" sz="1600" dirty="0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572868" y="13175843"/>
              <a:ext cx="246221" cy="914400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매탄권선</a:t>
              </a:r>
              <a:endParaRPr lang="ko-KR" altLang="en-US" sz="16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84166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망포</a:t>
              </a:r>
              <a:endParaRPr lang="ko-KR" altLang="en-US" sz="1600" dirty="0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2110458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영통</a:t>
              </a:r>
              <a:endParaRPr lang="ko-KR" altLang="en-US" sz="1600" dirty="0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379253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청명</a:t>
              </a:r>
              <a:endParaRPr lang="ko-KR" altLang="en-US" sz="1600" dirty="0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648048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상갈</a:t>
              </a:r>
              <a:endParaRPr lang="ko-KR" altLang="en-US" sz="16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291684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기흥</a:t>
              </a:r>
              <a:endParaRPr lang="ko-KR" altLang="en-US" sz="1600" dirty="0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185638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신갈</a:t>
              </a:r>
              <a:endParaRPr lang="ko-KR" altLang="en-US" sz="1600" dirty="0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3454433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구성</a:t>
              </a:r>
              <a:endParaRPr lang="ko-KR" altLang="en-US" sz="1600" dirty="0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3723228" y="13550658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보정</a:t>
              </a:r>
              <a:endParaRPr lang="ko-KR" altLang="en-US" sz="1600" dirty="0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399202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죽전</a:t>
              </a:r>
              <a:endParaRPr lang="ko-KR" altLang="en-US" sz="1600" dirty="0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26081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오리</a:t>
              </a:r>
              <a:endParaRPr lang="ko-KR" altLang="en-US" sz="1600" dirty="0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52961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미금</a:t>
              </a:r>
              <a:endParaRPr lang="ko-KR" altLang="en-US" sz="1600" dirty="0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79840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정자</a:t>
              </a:r>
              <a:endParaRPr lang="ko-KR" altLang="en-US" sz="1600" dirty="0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506720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수내</a:t>
              </a:r>
              <a:endParaRPr lang="ko-KR" altLang="en-US" sz="1600" dirty="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533599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서현</a:t>
              </a:r>
              <a:endParaRPr lang="ko-KR" altLang="en-US" sz="1600" dirty="0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560479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이매</a:t>
              </a:r>
              <a:endParaRPr lang="ko-KR" altLang="en-US" sz="1600" dirty="0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87358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야탑</a:t>
              </a:r>
              <a:endParaRPr lang="ko-KR" altLang="en-US" sz="1600" dirty="0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614238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모란</a:t>
              </a:r>
              <a:endParaRPr lang="ko-KR" altLang="en-US" sz="1600" dirty="0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641117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태평</a:t>
              </a:r>
              <a:endParaRPr lang="ko-KR" altLang="en-US" sz="1600" dirty="0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679973" y="13406348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가천대</a:t>
              </a:r>
              <a:endParaRPr lang="ko-KR" altLang="en-US" sz="1600" dirty="0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94876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복정</a:t>
              </a:r>
              <a:endParaRPr lang="ko-KR" altLang="en-US" sz="1600" dirty="0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21756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수서</a:t>
              </a:r>
              <a:endParaRPr lang="ko-KR" altLang="en-US" sz="1600" dirty="0"/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486358" y="13013917"/>
              <a:ext cx="246221" cy="10877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대모산입구</a:t>
              </a:r>
              <a:endParaRPr lang="ko-KR" altLang="en-US" sz="1600" dirty="0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7755153" y="13415873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개포동</a:t>
              </a:r>
              <a:endParaRPr lang="ko-KR" altLang="en-US" sz="1600" dirty="0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802394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구룡</a:t>
              </a:r>
              <a:endParaRPr lang="ko-KR" altLang="en-US" sz="1600" dirty="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829274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도곡</a:t>
              </a:r>
              <a:endParaRPr lang="ko-KR" altLang="en-US" sz="1600" dirty="0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8561538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한티</a:t>
              </a:r>
              <a:endParaRPr lang="ko-KR" altLang="en-US" sz="1600" dirty="0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8830333" y="13623517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선릉</a:t>
              </a:r>
              <a:endParaRPr lang="ko-KR" altLang="en-US" sz="1600" dirty="0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9099128" y="13406348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선정릉</a:t>
              </a:r>
              <a:endParaRPr lang="ko-KR" altLang="en-US" sz="1600" dirty="0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367923" y="13175843"/>
              <a:ext cx="246221" cy="9144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강남구청</a:t>
              </a:r>
              <a:endParaRPr lang="ko-KR" altLang="en-US" sz="1600" dirty="0"/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9636718" y="12794842"/>
              <a:ext cx="246221" cy="129730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압구정로데오</a:t>
              </a:r>
              <a:endParaRPr lang="ko-KR" altLang="en-US" sz="1600" dirty="0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905513" y="13396823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서울숲</a:t>
              </a:r>
              <a:endParaRPr lang="ko-KR" altLang="en-US" sz="1600" dirty="0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0174311" y="13396823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왕십리</a:t>
              </a:r>
              <a:endParaRPr lang="ko-KR" altLang="en-US" sz="1600" dirty="0"/>
            </a:p>
          </p:txBody>
        </p:sp>
        <p:cxnSp>
          <p:nvCxnSpPr>
            <p:cNvPr id="197" name="직선 연결선 196"/>
            <p:cNvCxnSpPr/>
            <p:nvPr/>
          </p:nvCxnSpPr>
          <p:spPr>
            <a:xfrm flipV="1">
              <a:off x="885069" y="14168348"/>
              <a:ext cx="9412353" cy="19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/>
            <p:cNvCxnSpPr/>
            <p:nvPr/>
          </p:nvCxnSpPr>
          <p:spPr>
            <a:xfrm flipH="1" flipV="1">
              <a:off x="88959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 flipV="1">
              <a:off x="115326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 199"/>
            <p:cNvCxnSpPr/>
            <p:nvPr/>
          </p:nvCxnSpPr>
          <p:spPr>
            <a:xfrm flipH="1" flipV="1">
              <a:off x="142216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/>
            <p:cNvCxnSpPr/>
            <p:nvPr/>
          </p:nvCxnSpPr>
          <p:spPr>
            <a:xfrm flipH="1" flipV="1">
              <a:off x="169105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/>
            <p:cNvCxnSpPr/>
            <p:nvPr/>
          </p:nvCxnSpPr>
          <p:spPr>
            <a:xfrm flipH="1" flipV="1">
              <a:off x="195994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 flipV="1">
              <a:off x="222883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flipH="1" flipV="1">
              <a:off x="249772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 flipH="1" flipV="1">
              <a:off x="276662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H="1" flipV="1">
              <a:off x="303551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 flipH="1" flipV="1">
              <a:off x="330440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연결선 207"/>
            <p:cNvCxnSpPr/>
            <p:nvPr/>
          </p:nvCxnSpPr>
          <p:spPr>
            <a:xfrm flipH="1" flipV="1">
              <a:off x="357329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 flipH="1" flipV="1">
              <a:off x="384218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 flipV="1">
              <a:off x="411108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 flipH="1" flipV="1">
              <a:off x="437997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 flipH="1" flipV="1">
              <a:off x="464886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 flipH="1" flipV="1">
              <a:off x="491775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/>
            <p:cNvCxnSpPr/>
            <p:nvPr/>
          </p:nvCxnSpPr>
          <p:spPr>
            <a:xfrm flipH="1" flipV="1">
              <a:off x="518664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 flipH="1" flipV="1">
              <a:off x="545554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572443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/>
            <p:cNvCxnSpPr/>
            <p:nvPr/>
          </p:nvCxnSpPr>
          <p:spPr>
            <a:xfrm flipH="1" flipV="1">
              <a:off x="599332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/>
            <p:cNvCxnSpPr/>
            <p:nvPr/>
          </p:nvCxnSpPr>
          <p:spPr>
            <a:xfrm flipH="1" flipV="1">
              <a:off x="626221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 flipH="1" flipV="1">
              <a:off x="653110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 flipH="1" flipV="1">
              <a:off x="680000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flipH="1" flipV="1">
              <a:off x="706889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 flipH="1" flipV="1">
              <a:off x="733778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 flipH="1" flipV="1">
              <a:off x="760667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 flipH="1" flipV="1">
              <a:off x="787556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 flipH="1" flipV="1">
              <a:off x="814446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 flipH="1" flipV="1">
              <a:off x="841335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 flipH="1" flipV="1">
              <a:off x="868224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 flipV="1">
              <a:off x="8951136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/>
            <p:cNvCxnSpPr/>
            <p:nvPr/>
          </p:nvCxnSpPr>
          <p:spPr>
            <a:xfrm flipH="1" flipV="1">
              <a:off x="9220028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/>
            <p:cNvCxnSpPr/>
            <p:nvPr/>
          </p:nvCxnSpPr>
          <p:spPr>
            <a:xfrm flipH="1" flipV="1">
              <a:off x="9488920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 230"/>
            <p:cNvCxnSpPr/>
            <p:nvPr/>
          </p:nvCxnSpPr>
          <p:spPr>
            <a:xfrm flipH="1" flipV="1">
              <a:off x="975781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연결선 231"/>
            <p:cNvCxnSpPr/>
            <p:nvPr/>
          </p:nvCxnSpPr>
          <p:spPr>
            <a:xfrm flipH="1" flipV="1">
              <a:off x="10026704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직선 연결선 232"/>
            <p:cNvCxnSpPr/>
            <p:nvPr/>
          </p:nvCxnSpPr>
          <p:spPr>
            <a:xfrm flipH="1" flipV="1">
              <a:off x="10295592" y="14095720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/>
            <p:cNvSpPr txBox="1"/>
            <p:nvPr/>
          </p:nvSpPr>
          <p:spPr>
            <a:xfrm>
              <a:off x="6260630" y="14349359"/>
              <a:ext cx="389112" cy="180975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6613834" y="14282684"/>
              <a:ext cx="134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err="1" smtClean="0"/>
                <a:t>급행정차역</a:t>
              </a:r>
              <a:endParaRPr lang="ko-KR" altLang="en-US" sz="1400" dirty="0"/>
            </a:p>
          </p:txBody>
        </p:sp>
        <p:sp>
          <p:nvSpPr>
            <p:cNvPr id="236" name="이등변 삼각형 235"/>
            <p:cNvSpPr/>
            <p:nvPr/>
          </p:nvSpPr>
          <p:spPr>
            <a:xfrm rot="10800000">
              <a:off x="7938809" y="14365081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이등변 삼각형 236"/>
            <p:cNvSpPr/>
            <p:nvPr/>
          </p:nvSpPr>
          <p:spPr>
            <a:xfrm rot="10800000">
              <a:off x="1869824" y="14204542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8" name="이등변 삼각형 237"/>
            <p:cNvSpPr/>
            <p:nvPr/>
          </p:nvSpPr>
          <p:spPr>
            <a:xfrm rot="10800000">
              <a:off x="2938927" y="14204542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이등변 삼각형 238"/>
            <p:cNvSpPr/>
            <p:nvPr/>
          </p:nvSpPr>
          <p:spPr>
            <a:xfrm rot="10800000">
              <a:off x="4036865" y="14204542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이등변 삼각형 239"/>
            <p:cNvSpPr/>
            <p:nvPr/>
          </p:nvSpPr>
          <p:spPr>
            <a:xfrm rot="10800000">
              <a:off x="4292349" y="14204542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8089302" y="14292209"/>
              <a:ext cx="134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대피선 </a:t>
              </a:r>
              <a:r>
                <a:rPr lang="ko-KR" altLang="en-US" sz="1400" dirty="0" err="1" smtClean="0"/>
                <a:t>기설치</a:t>
              </a:r>
              <a:endParaRPr lang="ko-KR" altLang="en-US" sz="1400" dirty="0"/>
            </a:p>
          </p:txBody>
        </p:sp>
        <p:sp>
          <p:nvSpPr>
            <p:cNvPr id="242" name="타원 241"/>
            <p:cNvSpPr/>
            <p:nvPr/>
          </p:nvSpPr>
          <p:spPr>
            <a:xfrm>
              <a:off x="792684" y="13388567"/>
              <a:ext cx="192406" cy="200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788224" y="13346518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1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44" name="타원 243"/>
            <p:cNvSpPr/>
            <p:nvPr/>
          </p:nvSpPr>
          <p:spPr>
            <a:xfrm>
              <a:off x="2945670" y="13415873"/>
              <a:ext cx="192406" cy="20002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944757" y="1336759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smtClean="0">
                  <a:solidFill>
                    <a:schemeClr val="bg1"/>
                  </a:solidFill>
                </a:rPr>
                <a:t>용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46" name="타원 245"/>
            <p:cNvSpPr/>
            <p:nvPr/>
          </p:nvSpPr>
          <p:spPr>
            <a:xfrm>
              <a:off x="4557513" y="13415873"/>
              <a:ext cx="192406" cy="2000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4556229" y="13374599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신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48" name="타원 247"/>
            <p:cNvSpPr/>
            <p:nvPr/>
          </p:nvSpPr>
          <p:spPr>
            <a:xfrm>
              <a:off x="4828803" y="13415873"/>
              <a:ext cx="192406" cy="2000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4827519" y="13374599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신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0" name="타원 249"/>
            <p:cNvSpPr/>
            <p:nvPr/>
          </p:nvSpPr>
          <p:spPr>
            <a:xfrm>
              <a:off x="6170654" y="13415873"/>
              <a:ext cx="192406" cy="200026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6169370" y="13370156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8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2" name="타원 251"/>
            <p:cNvSpPr/>
            <p:nvPr/>
          </p:nvSpPr>
          <p:spPr>
            <a:xfrm>
              <a:off x="6983454" y="13415873"/>
              <a:ext cx="192406" cy="200026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6982170" y="13370156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8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4" name="타원 253"/>
            <p:cNvSpPr/>
            <p:nvPr/>
          </p:nvSpPr>
          <p:spPr>
            <a:xfrm>
              <a:off x="7242267" y="13415873"/>
              <a:ext cx="192406" cy="20002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7240983" y="1337699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3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6" name="타원 255"/>
            <p:cNvSpPr/>
            <p:nvPr/>
          </p:nvSpPr>
          <p:spPr>
            <a:xfrm>
              <a:off x="8321450" y="13415873"/>
              <a:ext cx="192406" cy="20002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8320166" y="1337699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3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8" name="타원 257"/>
            <p:cNvSpPr/>
            <p:nvPr/>
          </p:nvSpPr>
          <p:spPr>
            <a:xfrm>
              <a:off x="8846086" y="13415873"/>
              <a:ext cx="192406" cy="2000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8844802" y="13378973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2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0" name="타원 259"/>
            <p:cNvSpPr/>
            <p:nvPr/>
          </p:nvSpPr>
          <p:spPr>
            <a:xfrm>
              <a:off x="9125486" y="13193623"/>
              <a:ext cx="192406" cy="20002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9124202" y="13155136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9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2" name="타원 261"/>
            <p:cNvSpPr/>
            <p:nvPr/>
          </p:nvSpPr>
          <p:spPr>
            <a:xfrm>
              <a:off x="9393359" y="12966842"/>
              <a:ext cx="192406" cy="20002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9392075" y="12931842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7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4" name="타원 263"/>
            <p:cNvSpPr/>
            <p:nvPr/>
          </p:nvSpPr>
          <p:spPr>
            <a:xfrm>
              <a:off x="10185936" y="13187273"/>
              <a:ext cx="192406" cy="2000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184652" y="13150373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2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6" name="타원 265"/>
            <p:cNvSpPr/>
            <p:nvPr/>
          </p:nvSpPr>
          <p:spPr>
            <a:xfrm>
              <a:off x="10185936" y="12971373"/>
              <a:ext cx="192406" cy="20002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0184652" y="12933650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5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8" name="타원 267"/>
            <p:cNvSpPr/>
            <p:nvPr/>
          </p:nvSpPr>
          <p:spPr>
            <a:xfrm>
              <a:off x="10185936" y="12755418"/>
              <a:ext cx="192406" cy="2000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10184652" y="12723232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춘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70" name="타원 269"/>
            <p:cNvSpPr/>
            <p:nvPr/>
          </p:nvSpPr>
          <p:spPr>
            <a:xfrm>
              <a:off x="5620444" y="13400890"/>
              <a:ext cx="192406" cy="200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5615984" y="1335884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solidFill>
                    <a:schemeClr val="bg1"/>
                  </a:solidFill>
                </a:rPr>
                <a:t>강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1142559" y="11944379"/>
            <a:ext cx="9942851" cy="1907335"/>
            <a:chOff x="881539" y="3414540"/>
            <a:chExt cx="9942851" cy="1907335"/>
          </a:xfrm>
        </p:grpSpPr>
        <p:sp>
          <p:nvSpPr>
            <p:cNvPr id="272" name="직사각형 271"/>
            <p:cNvSpPr/>
            <p:nvPr/>
          </p:nvSpPr>
          <p:spPr>
            <a:xfrm>
              <a:off x="998530" y="4895850"/>
              <a:ext cx="9412295" cy="1524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88153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수원</a:t>
              </a:r>
              <a:endParaRPr lang="ko-KR" altLang="en-US" sz="1600" dirty="0"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1150334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매교</a:t>
              </a:r>
              <a:endParaRPr lang="ko-KR" altLang="en-US" sz="1600" dirty="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1419129" y="3867151"/>
              <a:ext cx="246221" cy="9144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수원시청</a:t>
              </a:r>
              <a:endParaRPr lang="ko-KR" altLang="en-US" sz="1600" dirty="0"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1687924" y="3867151"/>
              <a:ext cx="246221" cy="914400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매탄권선</a:t>
              </a:r>
              <a:endParaRPr lang="ko-KR" altLang="en-US" sz="1600" dirty="0"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195671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망포</a:t>
              </a:r>
              <a:endParaRPr lang="ko-KR" altLang="en-US" sz="1600" dirty="0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225514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영통</a:t>
              </a:r>
              <a:endParaRPr lang="ko-KR" altLang="en-US" sz="1600" dirty="0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2494309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청명</a:t>
              </a:r>
              <a:endParaRPr lang="ko-KR" altLang="en-US" sz="1600" dirty="0"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2763104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상갈</a:t>
              </a:r>
              <a:endParaRPr lang="ko-KR" altLang="en-US" sz="1600" dirty="0"/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303189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기흥</a:t>
              </a:r>
              <a:endParaRPr lang="ko-KR" altLang="en-US" sz="1600" dirty="0"/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3300694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신갈</a:t>
              </a:r>
              <a:endParaRPr lang="ko-KR" altLang="en-US" sz="1600" dirty="0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569489" y="4326432"/>
              <a:ext cx="246221" cy="466549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구성</a:t>
              </a:r>
              <a:endParaRPr lang="ko-KR" altLang="en-US" sz="160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838284" y="4241966"/>
              <a:ext cx="246221" cy="551015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보정</a:t>
              </a:r>
              <a:endParaRPr lang="ko-KR" altLang="en-US" sz="1600" dirty="0"/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410707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죽전</a:t>
              </a:r>
              <a:endParaRPr lang="ko-KR" altLang="en-US" sz="1600" dirty="0"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437587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/>
                <a:t>오리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464466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미금</a:t>
              </a:r>
              <a:endParaRPr lang="ko-KR" altLang="en-US" sz="1600" dirty="0"/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91346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정자</a:t>
              </a:r>
              <a:endParaRPr lang="ko-KR" altLang="en-US" sz="1600" dirty="0"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5182259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/>
                <a:t>수내</a:t>
              </a:r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5451054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서현</a:t>
              </a:r>
              <a:endParaRPr lang="ko-KR" altLang="en-US" sz="1600" dirty="0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571984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이매</a:t>
              </a:r>
              <a:endParaRPr lang="ko-KR" altLang="en-US" sz="1600" dirty="0"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5988644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야탑</a:t>
              </a:r>
              <a:endParaRPr lang="ko-KR" altLang="en-US" sz="1600" dirty="0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625743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모란</a:t>
              </a:r>
              <a:endParaRPr lang="ko-KR" altLang="en-US" sz="1600" dirty="0"/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652623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/>
                <a:t>태평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6795029" y="4097656"/>
              <a:ext cx="246221" cy="685800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가천대</a:t>
              </a:r>
              <a:endParaRPr lang="ko-KR" altLang="en-US" dirty="0"/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706382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복정</a:t>
              </a:r>
              <a:endParaRPr lang="ko-KR" altLang="en-US" dirty="0"/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733261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수서</a:t>
              </a:r>
              <a:endParaRPr lang="ko-KR" altLang="en-US" sz="1600" dirty="0"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7601414" y="3705225"/>
              <a:ext cx="246221" cy="10877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대모산입구</a:t>
              </a:r>
              <a:endParaRPr lang="ko-KR" altLang="en-US" dirty="0"/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7870209" y="4107181"/>
              <a:ext cx="246221" cy="685800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/>
                <a:t>개포동</a:t>
              </a: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813900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구룡</a:t>
              </a:r>
              <a:endParaRPr lang="ko-KR" altLang="en-US" dirty="0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8407799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/>
                <a:t>도곡</a:t>
              </a: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8676594" y="4314825"/>
              <a:ext cx="246221" cy="478156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한티</a:t>
              </a:r>
              <a:endParaRPr lang="ko-KR" altLang="en-US" dirty="0"/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8945389" y="4314825"/>
              <a:ext cx="246221" cy="47815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선릉</a:t>
              </a:r>
              <a:endParaRPr lang="ko-KR" altLang="en-US" sz="1600" dirty="0"/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9214184" y="4097656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선정릉</a:t>
              </a:r>
              <a:endParaRPr lang="ko-KR" altLang="en-US" sz="1600" dirty="0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9482979" y="3867151"/>
              <a:ext cx="246221" cy="9144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smtClean="0"/>
                <a:t>강남구청</a:t>
              </a:r>
              <a:endParaRPr lang="ko-KR" altLang="en-US" sz="1600" dirty="0"/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9751774" y="3486150"/>
              <a:ext cx="246221" cy="1297306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dirty="0" err="1" smtClean="0"/>
                <a:t>압구정로데오</a:t>
              </a:r>
              <a:endParaRPr lang="ko-KR" altLang="en-US" sz="1600" dirty="0"/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10020569" y="4088131"/>
              <a:ext cx="246221" cy="685800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>
              <a:spAutoFit/>
            </a:bodyPr>
            <a:lstStyle>
              <a:defPPr>
                <a:defRPr lang="ko-KR"/>
              </a:defPPr>
              <a:lvl1pPr algn="r">
                <a:defRPr sz="1600"/>
              </a:lvl1pPr>
            </a:lstStyle>
            <a:p>
              <a:r>
                <a:rPr lang="ko-KR" altLang="en-US" dirty="0" err="1"/>
                <a:t>서울숲</a:t>
              </a:r>
              <a:endParaRPr lang="ko-KR" altLang="en-US" dirty="0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10289367" y="4088131"/>
              <a:ext cx="246221" cy="685800"/>
            </a:xfrm>
            <a:prstGeom prst="rect">
              <a:avLst/>
            </a:prstGeom>
            <a:solidFill>
              <a:srgbClr val="FFC000"/>
            </a:solidFill>
            <a:effectLst/>
          </p:spPr>
          <p:txBody>
            <a:bodyPr vert="eaVert" wrap="square" lIns="0" tIns="0" rIns="0" bIns="0" rtlCol="0">
              <a:spAutoFit/>
            </a:bodyPr>
            <a:lstStyle/>
            <a:p>
              <a:pPr algn="r"/>
              <a:r>
                <a:rPr lang="ko-KR" altLang="en-US" sz="1600" smtClean="0"/>
                <a:t>왕십리</a:t>
              </a:r>
              <a:endParaRPr lang="ko-KR" altLang="en-US" sz="1600" dirty="0"/>
            </a:p>
          </p:txBody>
        </p:sp>
        <p:cxnSp>
          <p:nvCxnSpPr>
            <p:cNvPr id="309" name="직선 연결선 308"/>
            <p:cNvCxnSpPr/>
            <p:nvPr/>
          </p:nvCxnSpPr>
          <p:spPr>
            <a:xfrm flipV="1">
              <a:off x="1000125" y="4859656"/>
              <a:ext cx="9412353" cy="19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연결선 309"/>
            <p:cNvCxnSpPr/>
            <p:nvPr/>
          </p:nvCxnSpPr>
          <p:spPr>
            <a:xfrm flipH="1" flipV="1">
              <a:off x="100465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/>
            <p:cNvCxnSpPr/>
            <p:nvPr/>
          </p:nvCxnSpPr>
          <p:spPr>
            <a:xfrm flipH="1" flipV="1">
              <a:off x="126832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 flipV="1">
              <a:off x="153721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연결선 312"/>
            <p:cNvCxnSpPr/>
            <p:nvPr/>
          </p:nvCxnSpPr>
          <p:spPr>
            <a:xfrm flipH="1" flipV="1">
              <a:off x="180610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313"/>
            <p:cNvCxnSpPr/>
            <p:nvPr/>
          </p:nvCxnSpPr>
          <p:spPr>
            <a:xfrm flipH="1" flipV="1">
              <a:off x="207500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 flipV="1">
              <a:off x="234389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직선 연결선 315"/>
            <p:cNvCxnSpPr/>
            <p:nvPr/>
          </p:nvCxnSpPr>
          <p:spPr>
            <a:xfrm flipH="1" flipV="1">
              <a:off x="261278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flipH="1" flipV="1">
              <a:off x="288167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직선 연결선 317"/>
            <p:cNvCxnSpPr/>
            <p:nvPr/>
          </p:nvCxnSpPr>
          <p:spPr>
            <a:xfrm flipH="1" flipV="1">
              <a:off x="315056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/>
            <p:cNvCxnSpPr/>
            <p:nvPr/>
          </p:nvCxnSpPr>
          <p:spPr>
            <a:xfrm flipH="1" flipV="1">
              <a:off x="341946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직선 연결선 319"/>
            <p:cNvCxnSpPr/>
            <p:nvPr/>
          </p:nvCxnSpPr>
          <p:spPr>
            <a:xfrm flipH="1" flipV="1">
              <a:off x="368835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/>
            <p:cNvCxnSpPr/>
            <p:nvPr/>
          </p:nvCxnSpPr>
          <p:spPr>
            <a:xfrm flipH="1" flipV="1">
              <a:off x="395724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/>
            <p:cNvCxnSpPr/>
            <p:nvPr/>
          </p:nvCxnSpPr>
          <p:spPr>
            <a:xfrm flipH="1" flipV="1">
              <a:off x="422613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직선 연결선 322"/>
            <p:cNvCxnSpPr/>
            <p:nvPr/>
          </p:nvCxnSpPr>
          <p:spPr>
            <a:xfrm flipH="1" flipV="1">
              <a:off x="449502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직선 연결선 323"/>
            <p:cNvCxnSpPr/>
            <p:nvPr/>
          </p:nvCxnSpPr>
          <p:spPr>
            <a:xfrm flipH="1" flipV="1">
              <a:off x="476392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연결선 324"/>
            <p:cNvCxnSpPr/>
            <p:nvPr/>
          </p:nvCxnSpPr>
          <p:spPr>
            <a:xfrm flipH="1" flipV="1">
              <a:off x="503281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직선 연결선 325"/>
            <p:cNvCxnSpPr/>
            <p:nvPr/>
          </p:nvCxnSpPr>
          <p:spPr>
            <a:xfrm flipH="1" flipV="1">
              <a:off x="530170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 flipV="1">
              <a:off x="557059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H="1" flipV="1">
              <a:off x="583948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직선 연결선 328"/>
            <p:cNvCxnSpPr/>
            <p:nvPr/>
          </p:nvCxnSpPr>
          <p:spPr>
            <a:xfrm flipH="1" flipV="1">
              <a:off x="610838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연결선 329"/>
            <p:cNvCxnSpPr/>
            <p:nvPr/>
          </p:nvCxnSpPr>
          <p:spPr>
            <a:xfrm flipH="1" flipV="1">
              <a:off x="637727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/>
            <p:cNvCxnSpPr/>
            <p:nvPr/>
          </p:nvCxnSpPr>
          <p:spPr>
            <a:xfrm flipH="1" flipV="1">
              <a:off x="664616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/>
            <p:cNvCxnSpPr/>
            <p:nvPr/>
          </p:nvCxnSpPr>
          <p:spPr>
            <a:xfrm flipH="1" flipV="1">
              <a:off x="691505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연결선 332"/>
            <p:cNvCxnSpPr/>
            <p:nvPr/>
          </p:nvCxnSpPr>
          <p:spPr>
            <a:xfrm flipH="1" flipV="1">
              <a:off x="718394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/>
            <p:cNvCxnSpPr/>
            <p:nvPr/>
          </p:nvCxnSpPr>
          <p:spPr>
            <a:xfrm flipH="1" flipV="1">
              <a:off x="745284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직선 연결선 334"/>
            <p:cNvCxnSpPr/>
            <p:nvPr/>
          </p:nvCxnSpPr>
          <p:spPr>
            <a:xfrm flipH="1" flipV="1">
              <a:off x="772173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연결선 335"/>
            <p:cNvCxnSpPr/>
            <p:nvPr/>
          </p:nvCxnSpPr>
          <p:spPr>
            <a:xfrm flipH="1" flipV="1">
              <a:off x="799062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연결선 336"/>
            <p:cNvCxnSpPr/>
            <p:nvPr/>
          </p:nvCxnSpPr>
          <p:spPr>
            <a:xfrm flipH="1" flipV="1">
              <a:off x="825951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/>
            <p:cNvCxnSpPr/>
            <p:nvPr/>
          </p:nvCxnSpPr>
          <p:spPr>
            <a:xfrm flipH="1" flipV="1">
              <a:off x="852840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 flipH="1" flipV="1">
              <a:off x="879730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/>
            <p:cNvCxnSpPr/>
            <p:nvPr/>
          </p:nvCxnSpPr>
          <p:spPr>
            <a:xfrm flipH="1" flipV="1">
              <a:off x="9066192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/>
            <p:cNvCxnSpPr/>
            <p:nvPr/>
          </p:nvCxnSpPr>
          <p:spPr>
            <a:xfrm flipH="1" flipV="1">
              <a:off x="9335084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/>
            <p:cNvCxnSpPr/>
            <p:nvPr/>
          </p:nvCxnSpPr>
          <p:spPr>
            <a:xfrm flipH="1" flipV="1">
              <a:off x="9603976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 flipV="1">
              <a:off x="987286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연결선 343"/>
            <p:cNvCxnSpPr/>
            <p:nvPr/>
          </p:nvCxnSpPr>
          <p:spPr>
            <a:xfrm flipH="1" flipV="1">
              <a:off x="10141760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연결선 344"/>
            <p:cNvCxnSpPr/>
            <p:nvPr/>
          </p:nvCxnSpPr>
          <p:spPr>
            <a:xfrm flipH="1" flipV="1">
              <a:off x="10410648" y="4787028"/>
              <a:ext cx="238" cy="81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TextBox 345"/>
            <p:cNvSpPr txBox="1"/>
            <p:nvPr/>
          </p:nvSpPr>
          <p:spPr>
            <a:xfrm>
              <a:off x="5820639" y="5069242"/>
              <a:ext cx="389112" cy="180975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6173843" y="5002567"/>
              <a:ext cx="134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err="1" smtClean="0"/>
                <a:t>급행정차역</a:t>
              </a:r>
              <a:endParaRPr lang="ko-KR" altLang="en-US" sz="1400" dirty="0"/>
            </a:p>
          </p:txBody>
        </p:sp>
        <p:sp>
          <p:nvSpPr>
            <p:cNvPr id="348" name="이등변 삼각형 347"/>
            <p:cNvSpPr/>
            <p:nvPr/>
          </p:nvSpPr>
          <p:spPr>
            <a:xfrm rot="10800000">
              <a:off x="7498818" y="5084964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" name="이등변 삼각형 348"/>
            <p:cNvSpPr/>
            <p:nvPr/>
          </p:nvSpPr>
          <p:spPr>
            <a:xfrm rot="10800000">
              <a:off x="1984880" y="4895850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" name="이등변 삼각형 349"/>
            <p:cNvSpPr/>
            <p:nvPr/>
          </p:nvSpPr>
          <p:spPr>
            <a:xfrm rot="10800000">
              <a:off x="3053983" y="4895850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이등변 삼각형 350"/>
            <p:cNvSpPr/>
            <p:nvPr/>
          </p:nvSpPr>
          <p:spPr>
            <a:xfrm rot="10800000">
              <a:off x="4151921" y="4895850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이등변 삼각형 351"/>
            <p:cNvSpPr/>
            <p:nvPr/>
          </p:nvSpPr>
          <p:spPr>
            <a:xfrm rot="10800000">
              <a:off x="4407405" y="4895850"/>
              <a:ext cx="193170" cy="15572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7649311" y="5012092"/>
              <a:ext cx="134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대피선 </a:t>
              </a:r>
              <a:r>
                <a:rPr lang="ko-KR" altLang="en-US" sz="1400" dirty="0" err="1" smtClean="0"/>
                <a:t>기설치</a:t>
              </a:r>
              <a:endParaRPr lang="ko-KR" altLang="en-US" sz="1400" dirty="0"/>
            </a:p>
          </p:txBody>
        </p:sp>
        <p:sp>
          <p:nvSpPr>
            <p:cNvPr id="354" name="타원 353"/>
            <p:cNvSpPr/>
            <p:nvPr/>
          </p:nvSpPr>
          <p:spPr>
            <a:xfrm>
              <a:off x="907740" y="4079875"/>
              <a:ext cx="192406" cy="200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903280" y="4037826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1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56" name="타원 355"/>
            <p:cNvSpPr/>
            <p:nvPr/>
          </p:nvSpPr>
          <p:spPr>
            <a:xfrm>
              <a:off x="3060726" y="4107181"/>
              <a:ext cx="192406" cy="20002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3059813" y="4058899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smtClean="0">
                  <a:solidFill>
                    <a:schemeClr val="bg1"/>
                  </a:solidFill>
                </a:rPr>
                <a:t>용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58" name="타원 357"/>
            <p:cNvSpPr/>
            <p:nvPr/>
          </p:nvSpPr>
          <p:spPr>
            <a:xfrm>
              <a:off x="4672569" y="4107181"/>
              <a:ext cx="192406" cy="2000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4671285" y="4065907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신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0" name="타원 359"/>
            <p:cNvSpPr/>
            <p:nvPr/>
          </p:nvSpPr>
          <p:spPr>
            <a:xfrm>
              <a:off x="4943859" y="4107181"/>
              <a:ext cx="192406" cy="2000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" name="TextBox 360"/>
            <p:cNvSpPr txBox="1"/>
            <p:nvPr/>
          </p:nvSpPr>
          <p:spPr>
            <a:xfrm>
              <a:off x="4942575" y="4065907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신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2" name="타원 361"/>
            <p:cNvSpPr/>
            <p:nvPr/>
          </p:nvSpPr>
          <p:spPr>
            <a:xfrm>
              <a:off x="6285710" y="4107181"/>
              <a:ext cx="192406" cy="200026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6284426" y="406146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8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4" name="타원 363"/>
            <p:cNvSpPr/>
            <p:nvPr/>
          </p:nvSpPr>
          <p:spPr>
            <a:xfrm>
              <a:off x="7098510" y="4107181"/>
              <a:ext cx="192406" cy="200026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7097226" y="406146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8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6" name="타원 365"/>
            <p:cNvSpPr/>
            <p:nvPr/>
          </p:nvSpPr>
          <p:spPr>
            <a:xfrm>
              <a:off x="7357323" y="4107181"/>
              <a:ext cx="192406" cy="20002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7356039" y="4068299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3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8" name="타원 367"/>
            <p:cNvSpPr/>
            <p:nvPr/>
          </p:nvSpPr>
          <p:spPr>
            <a:xfrm>
              <a:off x="8436506" y="4107181"/>
              <a:ext cx="192406" cy="20002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8435222" y="4068299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3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70" name="타원 369"/>
            <p:cNvSpPr/>
            <p:nvPr/>
          </p:nvSpPr>
          <p:spPr>
            <a:xfrm>
              <a:off x="8961142" y="4107181"/>
              <a:ext cx="192406" cy="2000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" name="TextBox 370"/>
            <p:cNvSpPr txBox="1"/>
            <p:nvPr/>
          </p:nvSpPr>
          <p:spPr>
            <a:xfrm>
              <a:off x="8959858" y="407028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2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72" name="타원 371"/>
            <p:cNvSpPr/>
            <p:nvPr/>
          </p:nvSpPr>
          <p:spPr>
            <a:xfrm>
              <a:off x="9240542" y="3884931"/>
              <a:ext cx="192406" cy="20002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9239258" y="384644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9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74" name="타원 373"/>
            <p:cNvSpPr/>
            <p:nvPr/>
          </p:nvSpPr>
          <p:spPr>
            <a:xfrm>
              <a:off x="9508415" y="3658150"/>
              <a:ext cx="192406" cy="20002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9507131" y="3623150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7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76" name="타원 375"/>
            <p:cNvSpPr/>
            <p:nvPr/>
          </p:nvSpPr>
          <p:spPr>
            <a:xfrm>
              <a:off x="10300992" y="3878581"/>
              <a:ext cx="192406" cy="2000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10299708" y="3841681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2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78" name="타원 377"/>
            <p:cNvSpPr/>
            <p:nvPr/>
          </p:nvSpPr>
          <p:spPr>
            <a:xfrm>
              <a:off x="10300992" y="3662681"/>
              <a:ext cx="192406" cy="20002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10299708" y="3624958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5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80" name="타원 379"/>
            <p:cNvSpPr/>
            <p:nvPr/>
          </p:nvSpPr>
          <p:spPr>
            <a:xfrm>
              <a:off x="10300992" y="3446726"/>
              <a:ext cx="192406" cy="2000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10299708" y="3414540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춘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82" name="타원 381"/>
            <p:cNvSpPr/>
            <p:nvPr/>
          </p:nvSpPr>
          <p:spPr>
            <a:xfrm>
              <a:off x="907740" y="3851256"/>
              <a:ext cx="192406" cy="20002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903280" y="3814308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dirty="0" smtClean="0">
                  <a:solidFill>
                    <a:srgbClr val="FF0000"/>
                  </a:solidFill>
                </a:rPr>
                <a:t>인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384" name="타원 383"/>
            <p:cNvSpPr/>
            <p:nvPr/>
          </p:nvSpPr>
          <p:spPr>
            <a:xfrm>
              <a:off x="3595967" y="4099022"/>
              <a:ext cx="192406" cy="20002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3591507" y="406207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smtClean="0">
                  <a:solidFill>
                    <a:srgbClr val="FF0000"/>
                  </a:solidFill>
                </a:rPr>
                <a:t>G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386" name="타원 385"/>
            <p:cNvSpPr/>
            <p:nvPr/>
          </p:nvSpPr>
          <p:spPr>
            <a:xfrm>
              <a:off x="5735500" y="4101723"/>
              <a:ext cx="192406" cy="200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5731040" y="405967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solidFill>
                    <a:schemeClr val="bg1"/>
                  </a:solidFill>
                </a:rPr>
                <a:t>강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88" name="타원 387"/>
            <p:cNvSpPr/>
            <p:nvPr/>
          </p:nvSpPr>
          <p:spPr>
            <a:xfrm>
              <a:off x="5729567" y="3889472"/>
              <a:ext cx="192406" cy="20002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5725107" y="385252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smtClean="0">
                  <a:solidFill>
                    <a:srgbClr val="FF0000"/>
                  </a:solidFill>
                </a:rPr>
                <a:t>G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390" name="타원 389"/>
            <p:cNvSpPr/>
            <p:nvPr/>
          </p:nvSpPr>
          <p:spPr>
            <a:xfrm>
              <a:off x="7348817" y="3889472"/>
              <a:ext cx="192406" cy="20002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7344357" y="3852524"/>
              <a:ext cx="19369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smtClean="0">
                  <a:solidFill>
                    <a:srgbClr val="FF0000"/>
                  </a:solidFill>
                </a:rPr>
                <a:t>G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392" name="다이아몬드 391"/>
            <p:cNvSpPr/>
            <p:nvPr/>
          </p:nvSpPr>
          <p:spPr>
            <a:xfrm>
              <a:off x="6036505" y="4895850"/>
              <a:ext cx="168696" cy="161925"/>
            </a:xfrm>
            <a:prstGeom prst="diamond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다이아몬드 392"/>
            <p:cNvSpPr/>
            <p:nvPr/>
          </p:nvSpPr>
          <p:spPr>
            <a:xfrm>
              <a:off x="7517066" y="4895850"/>
              <a:ext cx="168696" cy="161925"/>
            </a:xfrm>
            <a:prstGeom prst="diamond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다이아몬드 393"/>
            <p:cNvSpPr/>
            <p:nvPr/>
          </p:nvSpPr>
          <p:spPr>
            <a:xfrm>
              <a:off x="9335084" y="5087849"/>
              <a:ext cx="168696" cy="161925"/>
            </a:xfrm>
            <a:prstGeom prst="diamond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9434691" y="5014098"/>
              <a:ext cx="1389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대피선 신설</a:t>
              </a:r>
              <a:endParaRPr lang="ko-KR" altLang="en-US" sz="1400" dirty="0"/>
            </a:p>
          </p:txBody>
        </p:sp>
      </p:grp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23898"/>
              </p:ext>
            </p:extLst>
          </p:nvPr>
        </p:nvGraphicFramePr>
        <p:xfrm>
          <a:off x="682352" y="14003768"/>
          <a:ext cx="9721427" cy="1334073"/>
        </p:xfrm>
        <a:graphic>
          <a:graphicData uri="http://schemas.openxmlformats.org/drawingml/2006/table">
            <a:tbl>
              <a:tblPr/>
              <a:tblGrid>
                <a:gridCol w="1135364">
                  <a:extLst>
                    <a:ext uri="{9D8B030D-6E8A-4147-A177-3AD203B41FA5}">
                      <a16:colId xmlns:a16="http://schemas.microsoft.com/office/drawing/2014/main" val="2815746498"/>
                    </a:ext>
                  </a:extLst>
                </a:gridCol>
                <a:gridCol w="2752880">
                  <a:extLst>
                    <a:ext uri="{9D8B030D-6E8A-4147-A177-3AD203B41FA5}">
                      <a16:colId xmlns:a16="http://schemas.microsoft.com/office/drawing/2014/main" val="2144365627"/>
                    </a:ext>
                  </a:extLst>
                </a:gridCol>
                <a:gridCol w="1655280">
                  <a:extLst>
                    <a:ext uri="{9D8B030D-6E8A-4147-A177-3AD203B41FA5}">
                      <a16:colId xmlns:a16="http://schemas.microsoft.com/office/drawing/2014/main" val="533554911"/>
                    </a:ext>
                  </a:extLst>
                </a:gridCol>
                <a:gridCol w="2059659">
                  <a:extLst>
                    <a:ext uri="{9D8B030D-6E8A-4147-A177-3AD203B41FA5}">
                      <a16:colId xmlns:a16="http://schemas.microsoft.com/office/drawing/2014/main" val="1517243183"/>
                    </a:ext>
                  </a:extLst>
                </a:gridCol>
                <a:gridCol w="2118244">
                  <a:extLst>
                    <a:ext uri="{9D8B030D-6E8A-4147-A177-3AD203B41FA5}">
                      <a16:colId xmlns:a16="http://schemas.microsoft.com/office/drawing/2014/main" val="3953997151"/>
                    </a:ext>
                  </a:extLst>
                </a:gridCol>
              </a:tblGrid>
              <a:tr h="3162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구분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운행횟수</a:t>
                      </a:r>
                      <a:r>
                        <a:rPr lang="en-US" altLang="ko-KR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</a:t>
                      </a: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편도</a:t>
                      </a:r>
                      <a:r>
                        <a:rPr lang="en-US" altLang="ko-KR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)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정차역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표정속도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소요시간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850147"/>
                  </a:ext>
                </a:extLst>
              </a:tr>
              <a:tr h="3162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smtClean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일반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161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36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37.3km/h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85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784078"/>
                  </a:ext>
                </a:extLst>
              </a:tr>
              <a:tr h="3162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급행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</a:t>
                      </a:r>
                      <a:r>
                        <a:rPr lang="ko-KR" altLang="en-US" sz="2000" kern="0" spc="0" baseline="3000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*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28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41.8km/h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76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△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9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5325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21406"/>
              </p:ext>
            </p:extLst>
          </p:nvPr>
        </p:nvGraphicFramePr>
        <p:xfrm>
          <a:off x="11302818" y="14019461"/>
          <a:ext cx="9451599" cy="1334073"/>
        </p:xfrm>
        <a:graphic>
          <a:graphicData uri="http://schemas.openxmlformats.org/drawingml/2006/table">
            <a:tbl>
              <a:tblPr/>
              <a:tblGrid>
                <a:gridCol w="1103851">
                  <a:extLst>
                    <a:ext uri="{9D8B030D-6E8A-4147-A177-3AD203B41FA5}">
                      <a16:colId xmlns:a16="http://schemas.microsoft.com/office/drawing/2014/main" val="3700775622"/>
                    </a:ext>
                  </a:extLst>
                </a:gridCol>
                <a:gridCol w="2676471">
                  <a:extLst>
                    <a:ext uri="{9D8B030D-6E8A-4147-A177-3AD203B41FA5}">
                      <a16:colId xmlns:a16="http://schemas.microsoft.com/office/drawing/2014/main" val="232227192"/>
                    </a:ext>
                  </a:extLst>
                </a:gridCol>
                <a:gridCol w="1609336">
                  <a:extLst>
                    <a:ext uri="{9D8B030D-6E8A-4147-A177-3AD203B41FA5}">
                      <a16:colId xmlns:a16="http://schemas.microsoft.com/office/drawing/2014/main" val="124112268"/>
                    </a:ext>
                  </a:extLst>
                </a:gridCol>
                <a:gridCol w="2002491">
                  <a:extLst>
                    <a:ext uri="{9D8B030D-6E8A-4147-A177-3AD203B41FA5}">
                      <a16:colId xmlns:a16="http://schemas.microsoft.com/office/drawing/2014/main" val="2465332727"/>
                    </a:ext>
                  </a:extLst>
                </a:gridCol>
                <a:gridCol w="2059450">
                  <a:extLst>
                    <a:ext uri="{9D8B030D-6E8A-4147-A177-3AD203B41FA5}">
                      <a16:colId xmlns:a16="http://schemas.microsoft.com/office/drawing/2014/main" val="1883572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구분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운행횟수</a:t>
                      </a:r>
                      <a:r>
                        <a:rPr lang="en-US" altLang="ko-KR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</a:t>
                      </a: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편도</a:t>
                      </a:r>
                      <a:r>
                        <a:rPr lang="en-US" altLang="ko-KR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)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정차역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표정속도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소요시간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48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smtClean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일반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122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36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37.3km/h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85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31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급행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49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</a:t>
                      </a:r>
                      <a:r>
                        <a:rPr lang="ko-KR" altLang="en-US" sz="2000" kern="0" spc="0" baseline="3000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*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17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51.3km/h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64</a:t>
                      </a:r>
                      <a:r>
                        <a:rPr lang="ko-KR" altLang="en-US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  <a:r>
                        <a:rPr lang="en-US" altLang="ko-KR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</a:t>
                      </a:r>
                      <a:r>
                        <a:rPr lang="ko-KR" altLang="en-US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△</a:t>
                      </a:r>
                      <a:r>
                        <a:rPr lang="en-US" altLang="ko-KR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21</a:t>
                      </a:r>
                      <a:r>
                        <a:rPr lang="ko-KR" altLang="en-US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</a:t>
                      </a:r>
                      <a:r>
                        <a:rPr lang="en-US" altLang="ko-KR" sz="2000" kern="0" spc="0" dirty="0">
                          <a:solidFill>
                            <a:srgbClr val="FF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FF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956759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797528" y="15300537"/>
            <a:ext cx="67297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*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출·퇴근시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방향별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각 3회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운행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(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수원∼죽전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구간에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한정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)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한컴바탕" panose="02030600000101010101" pitchFamily="18" charset="2"/>
              <a:ea typeface="한양중고딕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37501" y="15322781"/>
            <a:ext cx="88440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*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출·퇴근시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완:급행=1:1 (각 9분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간격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)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운행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,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기타시간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급행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30분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간격</a:t>
            </a: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latin typeface="한양중고딕"/>
                <a:ea typeface="한양중고딕"/>
              </a:rPr>
              <a:t>운행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한컴바탕" panose="02030600000101010101" pitchFamily="18" charset="2"/>
              <a:ea typeface="한양중고딕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077045"/>
              </p:ext>
            </p:extLst>
          </p:nvPr>
        </p:nvGraphicFramePr>
        <p:xfrm>
          <a:off x="593349" y="19346038"/>
          <a:ext cx="752187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43">
                  <a:extLst>
                    <a:ext uri="{9D8B030D-6E8A-4147-A177-3AD203B41FA5}">
                      <a16:colId xmlns:a16="http://schemas.microsoft.com/office/drawing/2014/main" val="1826181111"/>
                    </a:ext>
                  </a:extLst>
                </a:gridCol>
                <a:gridCol w="2103919">
                  <a:extLst>
                    <a:ext uri="{9D8B030D-6E8A-4147-A177-3AD203B41FA5}">
                      <a16:colId xmlns:a16="http://schemas.microsoft.com/office/drawing/2014/main" val="2694140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5788853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40937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-30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수서</a:t>
                      </a:r>
                      <a:r>
                        <a:rPr lang="en-US" altLang="ko-KR" sz="2200" strike="noStrike" spc="-30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~</a:t>
                      </a:r>
                      <a:r>
                        <a:rPr lang="ko-KR" altLang="en-US" sz="2200" strike="noStrike" spc="-30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대모산입구</a:t>
                      </a:r>
                      <a:endParaRPr lang="ko-KR" altLang="en-US" sz="2200" strike="noStrike" spc="-3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야탑역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73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공사비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151,885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152,837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318,661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1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부대비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설계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측량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시운전 등 </a:t>
                      </a:r>
                      <a:r>
                        <a:rPr lang="ko-KR" altLang="en-US" sz="2000" strike="noStrike" spc="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요율</a:t>
                      </a:r>
                      <a:endParaRPr lang="ko-KR" altLang="en-US" sz="20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26,287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18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예비비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공사비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+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부대비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)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의 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10%</a:t>
                      </a:r>
                      <a:endParaRPr lang="ko-KR" altLang="en-US" sz="20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34,495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11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차량구입비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편성당 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8,150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백만원</a:t>
                      </a:r>
                      <a:r>
                        <a:rPr lang="en-US" altLang="ko-KR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. 7</a:t>
                      </a:r>
                      <a:r>
                        <a:rPr lang="ko-KR" altLang="en-US" sz="20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편성</a:t>
                      </a:r>
                      <a:endParaRPr lang="ko-KR" altLang="en-US" sz="20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57,050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397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총사업비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436,493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05404"/>
                  </a:ext>
                </a:extLst>
              </a:tr>
            </a:tbl>
          </a:graphicData>
        </a:graphic>
      </p:graphicFrame>
      <p:sp>
        <p:nvSpPr>
          <p:cNvPr id="397" name="직사각형 396"/>
          <p:cNvSpPr/>
          <p:nvPr/>
        </p:nvSpPr>
        <p:spPr>
          <a:xfrm>
            <a:off x="4706497" y="18873311"/>
            <a:ext cx="35285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(2016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년 기준가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,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단위 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: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억원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)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한컴바탕" panose="02030600000101010101" pitchFamily="18" charset="2"/>
              <a:ea typeface="한양중고딕"/>
            </a:endParaRPr>
          </a:p>
        </p:txBody>
      </p:sp>
      <p:grpSp>
        <p:nvGrpSpPr>
          <p:cNvPr id="398" name="Group 1979"/>
          <p:cNvGrpSpPr>
            <a:grpSpLocks/>
          </p:cNvGrpSpPr>
          <p:nvPr/>
        </p:nvGrpSpPr>
        <p:grpSpPr bwMode="auto">
          <a:xfrm>
            <a:off x="599922" y="22240608"/>
            <a:ext cx="8114053" cy="529846"/>
            <a:chOff x="354" y="8671"/>
            <a:chExt cx="7902" cy="516"/>
          </a:xfrm>
        </p:grpSpPr>
        <p:sp>
          <p:nvSpPr>
            <p:cNvPr id="399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0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dirty="0" smtClean="0">
                  <a:latin typeface="HY견고딕" panose="02030600000101010101" pitchFamily="18" charset="-127"/>
                </a:rPr>
                <a:t>수요 추정 결과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sp>
        <p:nvSpPr>
          <p:cNvPr id="401" name="직사각형 400"/>
          <p:cNvSpPr/>
          <p:nvPr/>
        </p:nvSpPr>
        <p:spPr>
          <a:xfrm>
            <a:off x="4896540" y="22401703"/>
            <a:ext cx="33794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(2025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년 기준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,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단위 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: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인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/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일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)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한컴바탕" panose="02030600000101010101" pitchFamily="18" charset="2"/>
              <a:ea typeface="한양중고딕"/>
            </a:endParaRPr>
          </a:p>
        </p:txBody>
      </p:sp>
      <p:graphicFrame>
        <p:nvGraphicFramePr>
          <p:cNvPr id="402" name="표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728160"/>
              </p:ext>
            </p:extLst>
          </p:nvPr>
        </p:nvGraphicFramePr>
        <p:xfrm>
          <a:off x="593349" y="22912026"/>
          <a:ext cx="755886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43">
                  <a:extLst>
                    <a:ext uri="{9D8B030D-6E8A-4147-A177-3AD203B41FA5}">
                      <a16:colId xmlns:a16="http://schemas.microsoft.com/office/drawing/2014/main" val="1826181111"/>
                    </a:ext>
                  </a:extLst>
                </a:gridCol>
                <a:gridCol w="2140908">
                  <a:extLst>
                    <a:ext uri="{9D8B030D-6E8A-4147-A177-3AD203B41FA5}">
                      <a16:colId xmlns:a16="http://schemas.microsoft.com/office/drawing/2014/main" val="2694140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5788853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40937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일반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급행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73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미시행시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534,446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45,512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579,958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1135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err="1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시행시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414,621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270,557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685,178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18412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증감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△119,825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225,045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105,220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829225"/>
                  </a:ext>
                </a:extLst>
              </a:tr>
            </a:tbl>
          </a:graphicData>
        </a:graphic>
      </p:graphicFrame>
      <p:grpSp>
        <p:nvGrpSpPr>
          <p:cNvPr id="403" name="Group 1979"/>
          <p:cNvGrpSpPr>
            <a:grpSpLocks/>
          </p:cNvGrpSpPr>
          <p:nvPr/>
        </p:nvGrpSpPr>
        <p:grpSpPr bwMode="auto">
          <a:xfrm>
            <a:off x="599922" y="24839283"/>
            <a:ext cx="8114053" cy="529847"/>
            <a:chOff x="354" y="8671"/>
            <a:chExt cx="7902" cy="516"/>
          </a:xfrm>
        </p:grpSpPr>
        <p:sp>
          <p:nvSpPr>
            <p:cNvPr id="404" name="Rectangle 123"/>
            <p:cNvSpPr>
              <a:spLocks noChangeArrowheads="1"/>
            </p:cNvSpPr>
            <p:nvPr/>
          </p:nvSpPr>
          <p:spPr bwMode="auto">
            <a:xfrm>
              <a:off x="354" y="8726"/>
              <a:ext cx="147" cy="434"/>
            </a:xfrm>
            <a:prstGeom prst="rect">
              <a:avLst/>
            </a:prstGeom>
            <a:solidFill>
              <a:srgbClr val="0C7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endParaRPr kumimoji="0" lang="ko-KR" altLang="ko-KR" sz="265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5" name="Text Box 64"/>
            <p:cNvSpPr txBox="1">
              <a:spLocks noChangeArrowheads="1"/>
            </p:cNvSpPr>
            <p:nvPr/>
          </p:nvSpPr>
          <p:spPr bwMode="auto">
            <a:xfrm>
              <a:off x="622" y="8671"/>
              <a:ext cx="763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1pPr>
              <a:lvl2pPr marL="742950" indent="-28575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2pPr>
              <a:lvl3pPr marL="11430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3pPr>
              <a:lvl4pPr marL="16002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4pPr>
              <a:lvl5pPr marL="2057400" indent="-228600" defTabSz="1252538" eaLnBrk="0" hangingPunct="0"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5pPr>
              <a:lvl6pPr marL="25146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6pPr>
              <a:lvl7pPr marL="29718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7pPr>
              <a:lvl8pPr marL="34290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8pPr>
              <a:lvl9pPr marL="3886200" indent="-228600" defTabSz="1252538" eaLnBrk="0" fontAlgn="base" hangingPunct="0">
                <a:spcBef>
                  <a:spcPct val="0"/>
                </a:spcBef>
                <a:spcAft>
                  <a:spcPct val="0"/>
                </a:spcAft>
                <a:defRPr kumimoji="1" sz="4200">
                  <a:solidFill>
                    <a:schemeClr val="tx1"/>
                  </a:solidFill>
                  <a:latin typeface="Arial" panose="020B0604020202020204" pitchFamily="34" charset="0"/>
                  <a:ea typeface="HY견고딕" panose="02030600000101010101" pitchFamily="18" charset="-127"/>
                </a:defRPr>
              </a:lvl9pPr>
            </a:lstStyle>
            <a:p>
              <a:pPr eaLnBrk="1" hangingPunct="1"/>
              <a:r>
                <a:rPr lang="ko-KR" altLang="en-US" sz="2846" dirty="0" err="1" smtClean="0">
                  <a:latin typeface="HY견고딕" panose="02030600000101010101" pitchFamily="18" charset="-127"/>
                </a:rPr>
                <a:t>경제성분석</a:t>
              </a:r>
              <a:r>
                <a:rPr lang="ko-KR" altLang="en-US" sz="2846" dirty="0" smtClean="0">
                  <a:latin typeface="HY견고딕" panose="02030600000101010101" pitchFamily="18" charset="-127"/>
                </a:rPr>
                <a:t> 결과</a:t>
              </a:r>
              <a:endParaRPr lang="ko-KR" altLang="en-US" sz="2846" dirty="0">
                <a:ea typeface="HY울릉도M" panose="02030600000101010101" pitchFamily="18" charset="-127"/>
              </a:endParaRPr>
            </a:p>
          </p:txBody>
        </p:sp>
      </p:grp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1257"/>
              </p:ext>
            </p:extLst>
          </p:nvPr>
        </p:nvGraphicFramePr>
        <p:xfrm>
          <a:off x="574854" y="25489254"/>
          <a:ext cx="7558867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543">
                  <a:extLst>
                    <a:ext uri="{9D8B030D-6E8A-4147-A177-3AD203B41FA5}">
                      <a16:colId xmlns:a16="http://schemas.microsoft.com/office/drawing/2014/main" val="4060947450"/>
                    </a:ext>
                  </a:extLst>
                </a:gridCol>
                <a:gridCol w="2140908">
                  <a:extLst>
                    <a:ext uri="{9D8B030D-6E8A-4147-A177-3AD203B41FA5}">
                      <a16:colId xmlns:a16="http://schemas.microsoft.com/office/drawing/2014/main" val="25636386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9106633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721540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구분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B/C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IRR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NPV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72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경제성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1.81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5.22%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3,458</a:t>
                      </a:r>
                      <a:r>
                        <a:rPr lang="ko-KR" altLang="en-US" sz="2200" strike="noStrike" spc="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억원</a:t>
                      </a:r>
                      <a:endParaRPr lang="ko-KR" altLang="en-US" sz="2200" strike="noStrike" spc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031697"/>
                  </a:ext>
                </a:extLst>
              </a:tr>
            </a:tbl>
          </a:graphicData>
        </a:graphic>
      </p:graphicFrame>
      <p:sp>
        <p:nvSpPr>
          <p:cNvPr id="406" name="AutoShape 95"/>
          <p:cNvSpPr>
            <a:spLocks noChangeArrowheads="1"/>
          </p:cNvSpPr>
          <p:nvPr/>
        </p:nvSpPr>
        <p:spPr bwMode="auto">
          <a:xfrm>
            <a:off x="8452331" y="16182057"/>
            <a:ext cx="12759859" cy="10454956"/>
          </a:xfrm>
          <a:prstGeom prst="roundRect">
            <a:avLst>
              <a:gd name="adj" fmla="val 3083"/>
            </a:avLst>
          </a:prstGeom>
          <a:noFill/>
          <a:ln w="12700" algn="ctr">
            <a:solidFill>
              <a:srgbClr val="969696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7" name="AutoShape 95"/>
          <p:cNvSpPr>
            <a:spLocks noChangeArrowheads="1"/>
          </p:cNvSpPr>
          <p:nvPr/>
        </p:nvSpPr>
        <p:spPr bwMode="auto">
          <a:xfrm>
            <a:off x="146101" y="5419461"/>
            <a:ext cx="16443620" cy="4642656"/>
          </a:xfrm>
          <a:prstGeom prst="roundRect">
            <a:avLst>
              <a:gd name="adj" fmla="val 3083"/>
            </a:avLst>
          </a:prstGeom>
          <a:noFill/>
          <a:ln w="12700" algn="ctr">
            <a:solidFill>
              <a:srgbClr val="969696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8" name="직사각형 407"/>
          <p:cNvSpPr/>
          <p:nvPr/>
        </p:nvSpPr>
        <p:spPr>
          <a:xfrm>
            <a:off x="10835828" y="16939498"/>
            <a:ext cx="104053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dirty="0">
                <a:solidFill>
                  <a:srgbClr val="000000"/>
                </a:solidFill>
                <a:latin typeface="한양중고딕"/>
                <a:ea typeface="한양중고딕"/>
              </a:rPr>
              <a:t>*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열차 운행을 중단시키지 않고 </a:t>
            </a:r>
            <a:r>
              <a:rPr lang="ko-KR" altLang="en-US" sz="2000" kern="0" dirty="0" err="1" smtClean="0">
                <a:solidFill>
                  <a:srgbClr val="000000"/>
                </a:solidFill>
                <a:latin typeface="한양중고딕"/>
                <a:ea typeface="한양중고딕"/>
              </a:rPr>
              <a:t>기존선에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 인접하여 </a:t>
            </a:r>
            <a:r>
              <a:rPr lang="ko-KR" altLang="en-US" sz="2000" kern="0" dirty="0" err="1" smtClean="0">
                <a:solidFill>
                  <a:srgbClr val="000000"/>
                </a:solidFill>
                <a:latin typeface="한양중고딕"/>
                <a:ea typeface="한양중고딕"/>
              </a:rPr>
              <a:t>부본선</a:t>
            </a:r>
            <a:r>
              <a:rPr lang="en-US" altLang="ko-KR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, </a:t>
            </a:r>
            <a:r>
              <a:rPr lang="ko-KR" altLang="en-US" sz="2000" kern="0" dirty="0" smtClean="0">
                <a:solidFill>
                  <a:srgbClr val="000000"/>
                </a:solidFill>
                <a:latin typeface="한양중고딕"/>
                <a:ea typeface="한양중고딕"/>
              </a:rPr>
              <a:t>대피선 등을 설치하는 공법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한컴바탕" panose="02030600000101010101" pitchFamily="18" charset="2"/>
              <a:ea typeface="한양중고딕"/>
            </a:endParaRPr>
          </a:p>
        </p:txBody>
      </p:sp>
      <p:pic>
        <p:nvPicPr>
          <p:cNvPr id="1029" name="_x585891112" descr="EMB000053ac064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" t="2307" r="33745" b="1036"/>
          <a:stretch>
            <a:fillRect/>
          </a:stretch>
        </p:blipFill>
        <p:spPr bwMode="auto">
          <a:xfrm>
            <a:off x="9883117" y="17647655"/>
            <a:ext cx="9824477" cy="460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_x630412056" descr="EMB000053ac065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717" y="22701823"/>
            <a:ext cx="6021085" cy="3058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" name="직사각형 408"/>
          <p:cNvSpPr/>
          <p:nvPr/>
        </p:nvSpPr>
        <p:spPr>
          <a:xfrm>
            <a:off x="9251652" y="25862015"/>
            <a:ext cx="5091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&lt; </a:t>
            </a:r>
            <a:r>
              <a:rPr lang="ko-KR" altLang="en-US" sz="2400" b="1" dirty="0" err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야탑역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2400" b="1" dirty="0" err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부본선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설치 단면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2400" b="1" dirty="0" err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개착부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&gt;</a:t>
            </a:r>
            <a:endParaRPr lang="ko-KR" altLang="en-US" sz="24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1033" name="_x631723024" descr="EMB000053ac065c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r="3220"/>
          <a:stretch>
            <a:fillRect/>
          </a:stretch>
        </p:blipFill>
        <p:spPr bwMode="auto">
          <a:xfrm>
            <a:off x="15286999" y="22649060"/>
            <a:ext cx="5502088" cy="321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" name="직사각형 410"/>
          <p:cNvSpPr/>
          <p:nvPr/>
        </p:nvSpPr>
        <p:spPr>
          <a:xfrm>
            <a:off x="14907172" y="25862015"/>
            <a:ext cx="6476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&lt; 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수서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~</a:t>
            </a:r>
            <a:r>
              <a:rPr lang="ko-KR" altLang="en-US" sz="2400" b="1" dirty="0" err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대모산입구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대피선 설치 단면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2400" b="1" dirty="0" err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비개착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2400" b="1" dirty="0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&gt;</a:t>
            </a:r>
            <a:endParaRPr lang="ko-KR" altLang="en-US" sz="24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95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147483647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사용자 지정</PresentationFormat>
  <Paragraphs>220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HY견고딕</vt:lpstr>
      <vt:lpstr>굴림</vt:lpstr>
      <vt:lpstr>맑은 고딕</vt:lpstr>
      <vt:lpstr>한양중고딕</vt:lpstr>
      <vt:lpstr>한컴바탕</vt:lpstr>
      <vt:lpstr>Arial</vt:lpstr>
      <vt:lpstr>Calibri</vt:lpstr>
      <vt:lpstr>Calibri Light</vt:lpstr>
      <vt:lpstr>HY울릉도M</vt:lpstr>
      <vt:lpstr>Wingdings</vt:lpstr>
      <vt:lpstr>1_디자인 사용자 지정</vt:lpstr>
      <vt:lpstr>PowerPoint 프레젠테이션</vt:lpstr>
    </vt:vector>
  </TitlesOfParts>
  <Manager/>
  <Company>ExTra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장영일</dc:creator>
  <cp:lastModifiedBy>JunHyun</cp:lastModifiedBy>
  <cp:revision>1012</cp:revision>
  <dcterms:created xsi:type="dcterms:W3CDTF">2004-10-28T14:03:35Z</dcterms:created>
  <dcterms:modified xsi:type="dcterms:W3CDTF">2019-11-12T04:34:05Z</dcterms:modified>
  <cp:version>1000.0000.01</cp:version>
</cp:coreProperties>
</file>